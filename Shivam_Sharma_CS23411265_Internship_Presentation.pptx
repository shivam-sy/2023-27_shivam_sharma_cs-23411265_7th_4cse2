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type="screen16x9" cy="6858000" cx="12192000"/>
  <p:notesSz cx="6858000" cy="12192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tableStyles" Target="tableStyle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9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9095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1049096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909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909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909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9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59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3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3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5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5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8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8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0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0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3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3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6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6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6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6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7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7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3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83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0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90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5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95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9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99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01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901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04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904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5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06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906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9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09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909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A45"/>
        </a:solidFill>
        <a:effectLst/>
      </p:bgPr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hape 0"/>
          <p:cNvSpPr/>
          <p:nvPr/>
        </p:nvSpPr>
        <p:spPr>
          <a:xfrm>
            <a:off x="0" y="0"/>
            <a:ext cx="12188952" cy="6858000"/>
          </a:xfrm>
          <a:prstGeom prst="rect"/>
          <a:solidFill>
            <a:srgbClr val="141A45"/>
          </a:solidFill>
        </p:spPr>
      </p:sp>
      <p:sp>
        <p:nvSpPr>
          <p:cNvPr id="1048577" name="Shape 3"/>
          <p:cNvSpPr/>
          <p:nvPr/>
        </p:nvSpPr>
        <p:spPr>
          <a:xfrm>
            <a:off x="365760" y="320040"/>
            <a:ext cx="1051560" cy="1051560"/>
          </a:xfrm>
          <a:prstGeom prst="ellipse"/>
          <a:solidFill>
            <a:srgbClr val="FFFFFF"/>
          </a:solidFill>
        </p:spPr>
      </p:sp>
      <p:sp>
        <p:nvSpPr>
          <p:cNvPr id="1048578" name="Shape 1"/>
          <p:cNvSpPr/>
          <p:nvPr/>
        </p:nvSpPr>
        <p:spPr>
          <a:xfrm>
            <a:off x="0" y="4754880"/>
            <a:ext cx="12188952" cy="2103120"/>
          </a:xfrm>
          <a:prstGeom prst="rect"/>
          <a:solidFill>
            <a:srgbClr val="1E2761">
              <a:alpha val="60000"/>
            </a:srgbClr>
          </a:solidFill>
        </p:spPr>
      </p:sp>
      <p:sp>
        <p:nvSpPr>
          <p:cNvPr id="1048579" name="Text 2"/>
          <p:cNvSpPr txBox="1"/>
          <p:nvPr/>
        </p:nvSpPr>
        <p:spPr>
          <a:xfrm>
            <a:off x="1417320" y="502920"/>
            <a:ext cx="73152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000" lang="en-US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IILM UNIVERSITY</a:t>
            </a:r>
            <a:endParaRPr dirty="0" sz="2000" lang="en-US"/>
          </a:p>
        </p:txBody>
      </p:sp>
      <p:sp>
        <p:nvSpPr>
          <p:cNvPr id="1048580" name="Text 3"/>
          <p:cNvSpPr txBox="1"/>
          <p:nvPr/>
        </p:nvSpPr>
        <p:spPr>
          <a:xfrm>
            <a:off x="1417320" y="896112"/>
            <a:ext cx="8229600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Greater Noida, Uttar Pradesh  |  School of Computer Science and Engineering</a:t>
            </a:r>
            <a:endParaRPr dirty="0" sz="1200" lang="en-US"/>
          </a:p>
        </p:txBody>
      </p:sp>
      <p:sp>
        <p:nvSpPr>
          <p:cNvPr id="1048581" name="Text 4"/>
          <p:cNvSpPr txBox="1"/>
          <p:nvPr/>
        </p:nvSpPr>
        <p:spPr>
          <a:xfrm>
            <a:off x="640080" y="2148840"/>
            <a:ext cx="73152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kern="0" lang="en-US" spc="20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INTERNSHIP PRESENTATION</a:t>
            </a:r>
            <a:endParaRPr dirty="0" sz="1300" lang="en-US"/>
          </a:p>
        </p:txBody>
      </p:sp>
      <p:sp>
        <p:nvSpPr>
          <p:cNvPr id="1048582" name="Text 5"/>
          <p:cNvSpPr txBox="1"/>
          <p:nvPr/>
        </p:nvSpPr>
        <p:spPr>
          <a:xfrm>
            <a:off x="640080" y="2514600"/>
            <a:ext cx="1051560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400" lang="en-US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AI-Powered Automation and Intelligent Agent Systems</a:t>
            </a:r>
            <a:endParaRPr dirty="0" sz="3400" lang="en-US"/>
          </a:p>
        </p:txBody>
      </p:sp>
      <p:sp>
        <p:nvSpPr>
          <p:cNvPr id="1048583" name="Text 6"/>
          <p:cNvSpPr txBox="1"/>
          <p:nvPr/>
        </p:nvSpPr>
        <p:spPr>
          <a:xfrm>
            <a:off x="640080" y="3246120"/>
            <a:ext cx="1051560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2200" i="1" lang="en-US">
                <a:solidFill>
                  <a:srgbClr val="CADCF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An Internship Report at KUAVA Digital</a:t>
            </a:r>
            <a:endParaRPr dirty="0" sz="2200" lang="en-US"/>
          </a:p>
        </p:txBody>
      </p:sp>
      <p:sp>
        <p:nvSpPr>
          <p:cNvPr id="1048584" name="Text 7"/>
          <p:cNvSpPr txBox="1"/>
          <p:nvPr/>
        </p:nvSpPr>
        <p:spPr>
          <a:xfrm>
            <a:off x="640080" y="5074920"/>
            <a:ext cx="2926080" cy="25603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000" kern="0" lang="en-US" spc="10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 NAME</a:t>
            </a:r>
            <a:endParaRPr dirty="0" sz="1000" lang="en-US"/>
          </a:p>
        </p:txBody>
      </p:sp>
      <p:sp>
        <p:nvSpPr>
          <p:cNvPr id="1048585" name="Text 8"/>
          <p:cNvSpPr txBox="1"/>
          <p:nvPr/>
        </p:nvSpPr>
        <p:spPr>
          <a:xfrm>
            <a:off x="640080" y="5312664"/>
            <a:ext cx="5029200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Shivam Sharma</a:t>
            </a:r>
            <a:endParaRPr dirty="0" sz="1300" lang="en-US"/>
          </a:p>
        </p:txBody>
      </p:sp>
      <p:sp>
        <p:nvSpPr>
          <p:cNvPr id="1048586" name="Text 9"/>
          <p:cNvSpPr txBox="1"/>
          <p:nvPr/>
        </p:nvSpPr>
        <p:spPr>
          <a:xfrm>
            <a:off x="6400800" y="5074920"/>
            <a:ext cx="2926080" cy="25603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000" kern="0" lang="en-US" spc="10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ORGANIZATION</a:t>
            </a:r>
            <a:endParaRPr dirty="0" sz="1000" lang="en-US"/>
          </a:p>
        </p:txBody>
      </p:sp>
      <p:sp>
        <p:nvSpPr>
          <p:cNvPr id="1048587" name="Text 10"/>
          <p:cNvSpPr txBox="1"/>
          <p:nvPr/>
        </p:nvSpPr>
        <p:spPr>
          <a:xfrm>
            <a:off x="6400800" y="5312664"/>
            <a:ext cx="5029200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KUAVA Digital</a:t>
            </a:r>
            <a:endParaRPr dirty="0" sz="1300" lang="en-US"/>
          </a:p>
        </p:txBody>
      </p:sp>
      <p:sp>
        <p:nvSpPr>
          <p:cNvPr id="1048588" name="Text 11"/>
          <p:cNvSpPr txBox="1"/>
          <p:nvPr/>
        </p:nvSpPr>
        <p:spPr>
          <a:xfrm>
            <a:off x="640080" y="5641848"/>
            <a:ext cx="2926080" cy="25603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000" kern="0" lang="en-US" spc="10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ENROLLMENT NUMBER</a:t>
            </a:r>
            <a:endParaRPr dirty="0" sz="1000" lang="en-US"/>
          </a:p>
        </p:txBody>
      </p:sp>
      <p:sp>
        <p:nvSpPr>
          <p:cNvPr id="1048589" name="Text 12"/>
          <p:cNvSpPr txBox="1"/>
          <p:nvPr/>
        </p:nvSpPr>
        <p:spPr>
          <a:xfrm>
            <a:off x="640080" y="5879592"/>
            <a:ext cx="5029200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CS-23411265</a:t>
            </a:r>
            <a:endParaRPr dirty="0" sz="1300" lang="en-US"/>
          </a:p>
        </p:txBody>
      </p:sp>
      <p:sp>
        <p:nvSpPr>
          <p:cNvPr id="1048590" name="Text 13"/>
          <p:cNvSpPr txBox="1"/>
          <p:nvPr/>
        </p:nvSpPr>
        <p:spPr>
          <a:xfrm>
            <a:off x="6400800" y="5641848"/>
            <a:ext cx="2926080" cy="25603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000" kern="0" lang="en-US" spc="10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POSITION</a:t>
            </a:r>
            <a:endParaRPr dirty="0" sz="1000" lang="en-US"/>
          </a:p>
        </p:txBody>
      </p:sp>
      <p:sp>
        <p:nvSpPr>
          <p:cNvPr id="1048591" name="Text 14"/>
          <p:cNvSpPr txBox="1"/>
          <p:nvPr/>
        </p:nvSpPr>
        <p:spPr>
          <a:xfrm>
            <a:off x="6400800" y="5879592"/>
            <a:ext cx="5029200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Automation Intern</a:t>
            </a:r>
            <a:endParaRPr dirty="0" sz="1300" lang="en-US"/>
          </a:p>
        </p:txBody>
      </p:sp>
      <p:sp>
        <p:nvSpPr>
          <p:cNvPr id="1048592" name="Text 15"/>
          <p:cNvSpPr txBox="1"/>
          <p:nvPr/>
        </p:nvSpPr>
        <p:spPr>
          <a:xfrm>
            <a:off x="640080" y="6208776"/>
            <a:ext cx="2926080" cy="25603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000" kern="0" lang="en-US" spc="10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PROGRAM &amp; SEMESTER</a:t>
            </a:r>
            <a:endParaRPr dirty="0" sz="1000" lang="en-US"/>
          </a:p>
        </p:txBody>
      </p:sp>
      <p:sp>
        <p:nvSpPr>
          <p:cNvPr id="1048593" name="Text 16"/>
          <p:cNvSpPr txBox="1"/>
          <p:nvPr/>
        </p:nvSpPr>
        <p:spPr>
          <a:xfrm>
            <a:off x="640080" y="6446520"/>
            <a:ext cx="5029200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B.Tech CSE, Semester 7 (2026–27)</a:t>
            </a:r>
            <a:endParaRPr dirty="0" sz="1300" lang="en-US"/>
          </a:p>
        </p:txBody>
      </p:sp>
      <p:sp>
        <p:nvSpPr>
          <p:cNvPr id="1048594" name="Text 17"/>
          <p:cNvSpPr txBox="1"/>
          <p:nvPr/>
        </p:nvSpPr>
        <p:spPr>
          <a:xfrm>
            <a:off x="6400800" y="6208776"/>
            <a:ext cx="2926080" cy="25603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000" kern="0" lang="en-US" spc="10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</a:t>
            </a:r>
            <a:endParaRPr dirty="0" sz="1000" lang="en-US"/>
          </a:p>
        </p:txBody>
      </p:sp>
      <p:sp>
        <p:nvSpPr>
          <p:cNvPr id="1048595" name="Text 18"/>
          <p:cNvSpPr txBox="1"/>
          <p:nvPr/>
        </p:nvSpPr>
        <p:spPr>
          <a:xfrm>
            <a:off x="6400800" y="6446520"/>
            <a:ext cx="5029200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Hybrid</a:t>
            </a:r>
            <a:endParaRPr dirty="0" sz="1300" lang="en-US"/>
          </a:p>
        </p:txBody>
      </p:sp>
      <p:pic>
        <p:nvPicPr>
          <p:cNvPr id="2097152" name="Image 0" descr="/home/claude/iilm_logo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12699" y="536194"/>
            <a:ext cx="758952" cy="758952"/>
          </a:xfrm>
          <a:prstGeom prst="rect"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ext 0"/>
          <p:cNvSpPr txBox="1"/>
          <p:nvPr/>
        </p:nvSpPr>
        <p:spPr>
          <a:xfrm>
            <a:off x="548640" y="320040"/>
            <a:ext cx="73152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OVERVIEW</a:t>
            </a:r>
            <a:endParaRPr dirty="0" sz="1100" lang="en-US"/>
          </a:p>
        </p:txBody>
      </p:sp>
      <p:sp>
        <p:nvSpPr>
          <p:cNvPr id="1048600" name="Text 1"/>
          <p:cNvSpPr txBox="1"/>
          <p:nvPr/>
        </p:nvSpPr>
        <p:spPr>
          <a:xfrm>
            <a:off x="548640" y="594360"/>
            <a:ext cx="105156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000" lang="en-US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Agenda</a:t>
            </a:r>
            <a:endParaRPr dirty="0" sz="3000" lang="en-US"/>
          </a:p>
        </p:txBody>
      </p:sp>
      <p:sp>
        <p:nvSpPr>
          <p:cNvPr id="1048601" name="Shape 2"/>
          <p:cNvSpPr/>
          <p:nvPr/>
        </p:nvSpPr>
        <p:spPr>
          <a:xfrm>
            <a:off x="548640" y="1600200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8602" name="Text 3"/>
          <p:cNvSpPr txBox="1"/>
          <p:nvPr/>
        </p:nvSpPr>
        <p:spPr>
          <a:xfrm>
            <a:off x="731520" y="1709928"/>
            <a:ext cx="82296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600" lang="en-US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dirty="0" sz="2600" lang="en-US"/>
          </a:p>
        </p:txBody>
      </p:sp>
      <p:sp>
        <p:nvSpPr>
          <p:cNvPr id="1048603" name="Text 4"/>
          <p:cNvSpPr txBox="1"/>
          <p:nvPr/>
        </p:nvSpPr>
        <p:spPr>
          <a:xfrm>
            <a:off x="1600200" y="1719072"/>
            <a:ext cx="3840480" cy="38404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Organization Profile</a:t>
            </a:r>
            <a:endParaRPr dirty="0" sz="1400" lang="en-US"/>
          </a:p>
        </p:txBody>
      </p:sp>
      <p:sp>
        <p:nvSpPr>
          <p:cNvPr id="1048604" name="Text 5"/>
          <p:cNvSpPr txBox="1"/>
          <p:nvPr/>
        </p:nvSpPr>
        <p:spPr>
          <a:xfrm>
            <a:off x="1600200" y="2075688"/>
            <a:ext cx="3840480" cy="329184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Introducing KUAVA Digital</a:t>
            </a:r>
            <a:endParaRPr dirty="0" sz="1100" lang="en-US"/>
          </a:p>
        </p:txBody>
      </p:sp>
      <p:sp>
        <p:nvSpPr>
          <p:cNvPr id="1048605" name="Shape 6"/>
          <p:cNvSpPr/>
          <p:nvPr/>
        </p:nvSpPr>
        <p:spPr>
          <a:xfrm>
            <a:off x="6035040" y="1600200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8606" name="Text 7"/>
          <p:cNvSpPr txBox="1"/>
          <p:nvPr/>
        </p:nvSpPr>
        <p:spPr>
          <a:xfrm>
            <a:off x="6217920" y="1709928"/>
            <a:ext cx="82296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600" lang="en-US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dirty="0" sz="2600" lang="en-US"/>
          </a:p>
        </p:txBody>
      </p:sp>
      <p:sp>
        <p:nvSpPr>
          <p:cNvPr id="1048607" name="Text 8"/>
          <p:cNvSpPr txBox="1"/>
          <p:nvPr/>
        </p:nvSpPr>
        <p:spPr>
          <a:xfrm>
            <a:off x="7086600" y="1719072"/>
            <a:ext cx="3840480" cy="38404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Internship Overview</a:t>
            </a:r>
            <a:endParaRPr dirty="0" sz="1400" lang="en-US"/>
          </a:p>
        </p:txBody>
      </p:sp>
      <p:sp>
        <p:nvSpPr>
          <p:cNvPr id="1048608" name="Text 9"/>
          <p:cNvSpPr txBox="1"/>
          <p:nvPr/>
        </p:nvSpPr>
        <p:spPr>
          <a:xfrm>
            <a:off x="7086600" y="2075688"/>
            <a:ext cx="3840480" cy="329184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Role, duration &amp; focus areas</a:t>
            </a:r>
            <a:endParaRPr dirty="0" sz="1100" lang="en-US"/>
          </a:p>
        </p:txBody>
      </p:sp>
      <p:sp>
        <p:nvSpPr>
          <p:cNvPr id="1048609" name="Shape 10"/>
          <p:cNvSpPr/>
          <p:nvPr/>
        </p:nvSpPr>
        <p:spPr>
          <a:xfrm>
            <a:off x="548640" y="2633472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8610" name="Text 11"/>
          <p:cNvSpPr txBox="1"/>
          <p:nvPr/>
        </p:nvSpPr>
        <p:spPr>
          <a:xfrm>
            <a:off x="731520" y="2743200"/>
            <a:ext cx="82296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600" lang="en-US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dirty="0" sz="2600" lang="en-US"/>
          </a:p>
        </p:txBody>
      </p:sp>
      <p:sp>
        <p:nvSpPr>
          <p:cNvPr id="1048611" name="Text 12"/>
          <p:cNvSpPr txBox="1"/>
          <p:nvPr/>
        </p:nvSpPr>
        <p:spPr>
          <a:xfrm>
            <a:off x="1600200" y="2752344"/>
            <a:ext cx="3840480" cy="38404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Statement &amp; Objectives</a:t>
            </a:r>
            <a:endParaRPr dirty="0" sz="1400" lang="en-US"/>
          </a:p>
        </p:txBody>
      </p:sp>
      <p:sp>
        <p:nvSpPr>
          <p:cNvPr id="1048612" name="Text 13"/>
          <p:cNvSpPr txBox="1"/>
          <p:nvPr/>
        </p:nvSpPr>
        <p:spPr>
          <a:xfrm>
            <a:off x="1600200" y="3108960"/>
            <a:ext cx="3840480" cy="329184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this work was needed</a:t>
            </a:r>
            <a:endParaRPr dirty="0" sz="1100" lang="en-US"/>
          </a:p>
        </p:txBody>
      </p:sp>
      <p:sp>
        <p:nvSpPr>
          <p:cNvPr id="1048613" name="Shape 14"/>
          <p:cNvSpPr/>
          <p:nvPr/>
        </p:nvSpPr>
        <p:spPr>
          <a:xfrm>
            <a:off x="6035040" y="2633472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8614" name="Text 15"/>
          <p:cNvSpPr txBox="1"/>
          <p:nvPr/>
        </p:nvSpPr>
        <p:spPr>
          <a:xfrm>
            <a:off x="6217920" y="2743200"/>
            <a:ext cx="82296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600" lang="en-US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dirty="0" sz="2600" lang="en-US"/>
          </a:p>
        </p:txBody>
      </p:sp>
      <p:sp>
        <p:nvSpPr>
          <p:cNvPr id="1048615" name="Text 16"/>
          <p:cNvSpPr txBox="1"/>
          <p:nvPr/>
        </p:nvSpPr>
        <p:spPr>
          <a:xfrm>
            <a:off x="7086600" y="2752344"/>
            <a:ext cx="3840480" cy="38404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Tools &amp; Technologies</a:t>
            </a:r>
            <a:endParaRPr dirty="0" sz="1400" lang="en-US"/>
          </a:p>
        </p:txBody>
      </p:sp>
      <p:sp>
        <p:nvSpPr>
          <p:cNvPr id="1048616" name="Text 17"/>
          <p:cNvSpPr txBox="1"/>
          <p:nvPr/>
        </p:nvSpPr>
        <p:spPr>
          <a:xfrm>
            <a:off x="7086600" y="3108960"/>
            <a:ext cx="3840480" cy="329184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Stack used across projects</a:t>
            </a:r>
            <a:endParaRPr dirty="0" sz="1100" lang="en-US"/>
          </a:p>
        </p:txBody>
      </p:sp>
      <p:sp>
        <p:nvSpPr>
          <p:cNvPr id="1048617" name="Shape 18"/>
          <p:cNvSpPr/>
          <p:nvPr/>
        </p:nvSpPr>
        <p:spPr>
          <a:xfrm>
            <a:off x="548640" y="3666744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8618" name="Text 19"/>
          <p:cNvSpPr txBox="1"/>
          <p:nvPr/>
        </p:nvSpPr>
        <p:spPr>
          <a:xfrm>
            <a:off x="731520" y="3776472"/>
            <a:ext cx="82296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600" lang="en-US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dirty="0" sz="2600" lang="en-US"/>
          </a:p>
        </p:txBody>
      </p:sp>
      <p:sp>
        <p:nvSpPr>
          <p:cNvPr id="1048619" name="Text 20"/>
          <p:cNvSpPr txBox="1"/>
          <p:nvPr/>
        </p:nvSpPr>
        <p:spPr>
          <a:xfrm>
            <a:off x="1600200" y="3785616"/>
            <a:ext cx="3840480" cy="38404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dirty="0" sz="1400" lang="en-US"/>
          </a:p>
        </p:txBody>
      </p:sp>
      <p:sp>
        <p:nvSpPr>
          <p:cNvPr id="1048620" name="Text 21"/>
          <p:cNvSpPr txBox="1"/>
          <p:nvPr/>
        </p:nvSpPr>
        <p:spPr>
          <a:xfrm>
            <a:off x="1600200" y="4142232"/>
            <a:ext cx="3840480" cy="329184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Flowcharts for all 9 projects</a:t>
            </a:r>
            <a:endParaRPr dirty="0" sz="1100" lang="en-US"/>
          </a:p>
        </p:txBody>
      </p:sp>
      <p:sp>
        <p:nvSpPr>
          <p:cNvPr id="1048621" name="Shape 22"/>
          <p:cNvSpPr/>
          <p:nvPr/>
        </p:nvSpPr>
        <p:spPr>
          <a:xfrm>
            <a:off x="6035040" y="3666744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8622" name="Text 23"/>
          <p:cNvSpPr txBox="1"/>
          <p:nvPr/>
        </p:nvSpPr>
        <p:spPr>
          <a:xfrm>
            <a:off x="6217920" y="3776472"/>
            <a:ext cx="82296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600" lang="en-US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06</a:t>
            </a:r>
            <a:endParaRPr dirty="0" sz="2600" lang="en-US"/>
          </a:p>
        </p:txBody>
      </p:sp>
      <p:sp>
        <p:nvSpPr>
          <p:cNvPr id="1048623" name="Text 24"/>
          <p:cNvSpPr txBox="1"/>
          <p:nvPr/>
        </p:nvSpPr>
        <p:spPr>
          <a:xfrm>
            <a:off x="7086600" y="3785616"/>
            <a:ext cx="3840480" cy="38404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 &amp; Outcomes</a:t>
            </a:r>
            <a:endParaRPr dirty="0" sz="1400" lang="en-US"/>
          </a:p>
        </p:txBody>
      </p:sp>
      <p:sp>
        <p:nvSpPr>
          <p:cNvPr id="1048624" name="Text 25"/>
          <p:cNvSpPr txBox="1"/>
          <p:nvPr/>
        </p:nvSpPr>
        <p:spPr>
          <a:xfrm>
            <a:off x="7086600" y="4142232"/>
            <a:ext cx="3840480" cy="329184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Approach and results</a:t>
            </a:r>
            <a:endParaRPr dirty="0" sz="1100" lang="en-US"/>
          </a:p>
        </p:txBody>
      </p:sp>
      <p:sp>
        <p:nvSpPr>
          <p:cNvPr id="1048625" name="Shape 26"/>
          <p:cNvSpPr/>
          <p:nvPr/>
        </p:nvSpPr>
        <p:spPr>
          <a:xfrm>
            <a:off x="548640" y="4700016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8626" name="Text 27"/>
          <p:cNvSpPr txBox="1"/>
          <p:nvPr/>
        </p:nvSpPr>
        <p:spPr>
          <a:xfrm>
            <a:off x="731520" y="4809744"/>
            <a:ext cx="82296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600" lang="en-US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07</a:t>
            </a:r>
            <a:endParaRPr dirty="0" sz="2600" lang="en-US"/>
          </a:p>
        </p:txBody>
      </p:sp>
      <p:sp>
        <p:nvSpPr>
          <p:cNvPr id="1048627" name="Text 28"/>
          <p:cNvSpPr txBox="1"/>
          <p:nvPr/>
        </p:nvSpPr>
        <p:spPr>
          <a:xfrm>
            <a:off x="1600200" y="4818888"/>
            <a:ext cx="3840480" cy="38404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400" lang="en-US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Skills &amp; Conclusion</a:t>
            </a:r>
            <a:endParaRPr dirty="0" sz="1400" lang="en-US"/>
          </a:p>
        </p:txBody>
      </p:sp>
      <p:sp>
        <p:nvSpPr>
          <p:cNvPr id="1048628" name="Text 29"/>
          <p:cNvSpPr txBox="1"/>
          <p:nvPr/>
        </p:nvSpPr>
        <p:spPr>
          <a:xfrm>
            <a:off x="1600200" y="5175504"/>
            <a:ext cx="3840480" cy="329184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takeaways</a:t>
            </a:r>
            <a:endParaRPr dirty="0" sz="1100" lang="en-US"/>
          </a:p>
        </p:txBody>
      </p:sp>
      <p:sp>
        <p:nvSpPr>
          <p:cNvPr id="1048629" name="Text 30"/>
          <p:cNvSpPr/>
          <p:nvPr/>
        </p:nvSpPr>
        <p:spPr>
          <a:xfrm>
            <a:off x="11640312" y="6473952"/>
            <a:ext cx="36576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9AA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dirty="0" sz="100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Text 0"/>
          <p:cNvSpPr txBox="1"/>
          <p:nvPr/>
        </p:nvSpPr>
        <p:spPr>
          <a:xfrm>
            <a:off x="548640" y="320040"/>
            <a:ext cx="73152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01</a:t>
            </a:r>
            <a:endParaRPr dirty="0" sz="1100" lang="en-US"/>
          </a:p>
        </p:txBody>
      </p:sp>
      <p:sp>
        <p:nvSpPr>
          <p:cNvPr id="1048634" name="Text 1"/>
          <p:cNvSpPr txBox="1"/>
          <p:nvPr/>
        </p:nvSpPr>
        <p:spPr>
          <a:xfrm>
            <a:off x="548640" y="594360"/>
            <a:ext cx="105156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000" lang="en-US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Organization Profile: KUAVA Digital</a:t>
            </a:r>
            <a:endParaRPr dirty="0" sz="3000" lang="en-US"/>
          </a:p>
        </p:txBody>
      </p:sp>
      <p:sp>
        <p:nvSpPr>
          <p:cNvPr id="1048635" name="Text 2"/>
          <p:cNvSpPr txBox="1"/>
          <p:nvPr/>
        </p:nvSpPr>
        <p:spPr>
          <a:xfrm>
            <a:off x="548640" y="1371600"/>
            <a:ext cx="6400800" cy="3657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500" i="1" lang="en-US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"Creative, Strategic, Technology-Driven"</a:t>
            </a:r>
            <a:endParaRPr dirty="0" sz="1500" lang="en-US"/>
          </a:p>
        </p:txBody>
      </p:sp>
      <p:sp>
        <p:nvSpPr>
          <p:cNvPr id="1048636" name="Shape 3"/>
          <p:cNvSpPr/>
          <p:nvPr/>
        </p:nvSpPr>
        <p:spPr>
          <a:xfrm>
            <a:off x="548640" y="1920240"/>
            <a:ext cx="3291840" cy="4114800"/>
          </a:xfrm>
          <a:prstGeom prst="roundRect">
            <a:avLst>
              <a:gd name="adj" fmla="val 2222"/>
            </a:avLst>
          </a:prstGeom>
          <a:solidFill>
            <a:srgbClr val="1E2761"/>
          </a:solidFill>
        </p:spPr>
      </p:sp>
      <p:sp>
        <p:nvSpPr>
          <p:cNvPr id="1048637" name="Text 4"/>
          <p:cNvSpPr txBox="1"/>
          <p:nvPr/>
        </p:nvSpPr>
        <p:spPr>
          <a:xfrm>
            <a:off x="822960" y="2148840"/>
            <a:ext cx="27432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00" kern="0" lang="en-US" spc="10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 ROLE</a:t>
            </a:r>
            <a:endParaRPr dirty="0" sz="1100" lang="en-US"/>
          </a:p>
        </p:txBody>
      </p:sp>
      <p:sp>
        <p:nvSpPr>
          <p:cNvPr id="1048638" name="Text 5"/>
          <p:cNvSpPr txBox="1"/>
          <p:nvPr/>
        </p:nvSpPr>
        <p:spPr>
          <a:xfrm>
            <a:off x="822960" y="2423160"/>
            <a:ext cx="274320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800" lang="en-US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 Automation Intern</a:t>
            </a:r>
            <a:endParaRPr dirty="0" sz="1800" lang="en-US"/>
          </a:p>
        </p:txBody>
      </p:sp>
      <p:sp>
        <p:nvSpPr>
          <p:cNvPr id="1048639" name="Text 6"/>
          <p:cNvSpPr txBox="1"/>
          <p:nvPr/>
        </p:nvSpPr>
        <p:spPr>
          <a:xfrm>
            <a:off x="822960" y="3200400"/>
            <a:ext cx="2743200" cy="25603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000" kern="0" lang="en-US" spc="10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DURATION</a:t>
            </a:r>
            <a:endParaRPr dirty="0" sz="1000" lang="en-US"/>
          </a:p>
        </p:txBody>
      </p:sp>
      <p:sp>
        <p:nvSpPr>
          <p:cNvPr id="1048640" name="Text 7"/>
          <p:cNvSpPr txBox="1"/>
          <p:nvPr/>
        </p:nvSpPr>
        <p:spPr>
          <a:xfrm>
            <a:off x="822960" y="3438144"/>
            <a:ext cx="2743200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[Start Date] – [End Date]</a:t>
            </a:r>
            <a:endParaRPr dirty="0" sz="1200" lang="en-US"/>
          </a:p>
        </p:txBody>
      </p:sp>
      <p:sp>
        <p:nvSpPr>
          <p:cNvPr id="1048641" name="Text 8"/>
          <p:cNvSpPr txBox="1"/>
          <p:nvPr/>
        </p:nvSpPr>
        <p:spPr>
          <a:xfrm>
            <a:off x="822960" y="3886200"/>
            <a:ext cx="2743200" cy="25603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000" kern="0" lang="en-US" spc="10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INDUSTRY</a:t>
            </a:r>
            <a:endParaRPr dirty="0" sz="1000" lang="en-US"/>
          </a:p>
        </p:txBody>
      </p:sp>
      <p:sp>
        <p:nvSpPr>
          <p:cNvPr id="1048642" name="Text 9"/>
          <p:cNvSpPr txBox="1"/>
          <p:nvPr/>
        </p:nvSpPr>
        <p:spPr>
          <a:xfrm>
            <a:off x="822960" y="4123944"/>
            <a:ext cx="2743200" cy="5486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Marketing Services /</a:t>
            </a:r>
            <a:endParaRPr dirty="0" sz="1200" lang="en-US"/>
          </a:p>
          <a:p>
            <a:pPr indent="0" marL="0">
              <a:buNone/>
            </a:pPr>
            <a:r>
              <a:rPr dirty="0" sz="12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Digital Marketing</a:t>
            </a:r>
            <a:endParaRPr dirty="0" sz="1200" lang="en-US"/>
          </a:p>
        </p:txBody>
      </p:sp>
      <p:sp>
        <p:nvSpPr>
          <p:cNvPr id="1048643" name="Text 10"/>
          <p:cNvSpPr txBox="1"/>
          <p:nvPr/>
        </p:nvSpPr>
        <p:spPr>
          <a:xfrm>
            <a:off x="822960" y="4800600"/>
            <a:ext cx="2743200" cy="25603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000" kern="0" lang="en-US" spc="10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FOUNDED / SIZE</a:t>
            </a:r>
            <a:endParaRPr dirty="0" sz="1000" lang="en-US"/>
          </a:p>
        </p:txBody>
      </p:sp>
      <p:sp>
        <p:nvSpPr>
          <p:cNvPr id="1048644" name="Text 11"/>
          <p:cNvSpPr txBox="1"/>
          <p:nvPr/>
        </p:nvSpPr>
        <p:spPr>
          <a:xfrm>
            <a:off x="822960" y="5038344"/>
            <a:ext cx="2743200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2023 · 2–10 employees</a:t>
            </a:r>
            <a:endParaRPr dirty="0" sz="1200" lang="en-US"/>
          </a:p>
        </p:txBody>
      </p:sp>
      <p:sp>
        <p:nvSpPr>
          <p:cNvPr id="1048645" name="Text 12"/>
          <p:cNvSpPr txBox="1"/>
          <p:nvPr/>
        </p:nvSpPr>
        <p:spPr>
          <a:xfrm>
            <a:off x="822960" y="5486400"/>
            <a:ext cx="2743200" cy="25603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000" kern="0" lang="en-US" spc="10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CONTACT</a:t>
            </a:r>
            <a:endParaRPr dirty="0" sz="1000" lang="en-US"/>
          </a:p>
        </p:txBody>
      </p:sp>
      <p:sp>
        <p:nvSpPr>
          <p:cNvPr id="1048646" name="Text 13"/>
          <p:cNvSpPr txBox="1"/>
          <p:nvPr/>
        </p:nvSpPr>
        <p:spPr>
          <a:xfrm>
            <a:off x="822960" y="5724144"/>
            <a:ext cx="2743200" cy="29260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2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www.kuavadigital.com</a:t>
            </a:r>
            <a:endParaRPr dirty="0" sz="1200" lang="en-US"/>
          </a:p>
        </p:txBody>
      </p:sp>
      <p:sp>
        <p:nvSpPr>
          <p:cNvPr id="1048647" name="Shape 14"/>
          <p:cNvSpPr/>
          <p:nvPr/>
        </p:nvSpPr>
        <p:spPr>
          <a:xfrm>
            <a:off x="4069080" y="1920240"/>
            <a:ext cx="7543800" cy="4114800"/>
          </a:xfrm>
          <a:prstGeom prst="roundRect">
            <a:avLst>
              <a:gd name="adj" fmla="val 1778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8648" name="Text 15"/>
          <p:cNvSpPr txBox="1"/>
          <p:nvPr/>
        </p:nvSpPr>
        <p:spPr>
          <a:xfrm>
            <a:off x="4389120" y="2194560"/>
            <a:ext cx="6949440" cy="3566160"/>
          </a:xfrm>
          <a:prstGeom prst="rect"/>
          <a:noFill/>
        </p:spPr>
        <p:txBody>
          <a:bodyPr anchor="t" rtlCol="0" wrap="square"/>
          <a:p>
            <a:pPr indent="0" marL="0">
              <a:lnSpc>
                <a:spcPct val="125000"/>
              </a:lnSpc>
              <a:buNone/>
            </a:pPr>
            <a:r>
              <a:rPr b="1" dirty="0" sz="1300" lang="en-US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KUAVA Digital </a:t>
            </a:r>
            <a:r>
              <a:rPr dirty="0" sz="13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 a privately held digital marketing company headquartered in Mumbai, Maharashtra, India. Founded in 2023, it helps businesses strengthen their digital presence through creative, strategic, and technology-driven solutions.
</a:t>
            </a:r>
            <a:r>
              <a:rPr b="1" dirty="0" sz="1300" lang="en-US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Services include: </a:t>
            </a:r>
            <a:r>
              <a:rPr dirty="0" sz="13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Social Media Marketing, Digital Marketing, SEO, Paid Social Media Marketing, Email Marketing, UI/UX Design, Website Development and Design, App Innovation, Content Creation, Copywriting, and Branding.
</a:t>
            </a:r>
            <a:r>
              <a:rPr dirty="0" sz="13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During the internship, </a:t>
            </a:r>
            <a:r>
              <a:rPr dirty="0" sz="13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 worked on multiple AI-powered automation and intelligent agent projects, gaining valuable industry exposure and hands-on practical experience.</a:t>
            </a:r>
            <a:endParaRPr dirty="0" sz="1300" lang="en-US"/>
          </a:p>
        </p:txBody>
      </p:sp>
      <p:sp>
        <p:nvSpPr>
          <p:cNvPr id="1048649" name="Text 16"/>
          <p:cNvSpPr/>
          <p:nvPr/>
        </p:nvSpPr>
        <p:spPr>
          <a:xfrm>
            <a:off x="11640312" y="6473952"/>
            <a:ext cx="36576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9AA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dirty="0" sz="100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Text 0"/>
          <p:cNvSpPr txBox="1"/>
          <p:nvPr/>
        </p:nvSpPr>
        <p:spPr>
          <a:xfrm>
            <a:off x="548640" y="320040"/>
            <a:ext cx="73152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02</a:t>
            </a:r>
            <a:endParaRPr dirty="0" sz="1100" lang="en-US"/>
          </a:p>
        </p:txBody>
      </p:sp>
      <p:sp>
        <p:nvSpPr>
          <p:cNvPr id="1048654" name="Text 1"/>
          <p:cNvSpPr txBox="1"/>
          <p:nvPr/>
        </p:nvSpPr>
        <p:spPr>
          <a:xfrm>
            <a:off x="548640" y="594360"/>
            <a:ext cx="105156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000" lang="en-US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Internship Overview</a:t>
            </a:r>
            <a:endParaRPr dirty="0" sz="3000" lang="en-US"/>
          </a:p>
        </p:txBody>
      </p:sp>
      <p:sp>
        <p:nvSpPr>
          <p:cNvPr id="1048655" name="Text 2"/>
          <p:cNvSpPr txBox="1"/>
          <p:nvPr/>
        </p:nvSpPr>
        <p:spPr>
          <a:xfrm>
            <a:off x="548640" y="1417320"/>
            <a:ext cx="10789920" cy="77724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0000"/>
              </a:lnSpc>
              <a:buNone/>
            </a:pPr>
            <a:r>
              <a:rPr dirty="0" sz="13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During the internship, I worked on nine connected AI-powered automation and intelligent agent projects — applying LLMs, workflow automation, and voice AI to reduce manual work across lead management, communication, scheduling, and financial analysis.</a:t>
            </a:r>
            <a:endParaRPr dirty="0" sz="1300" lang="en-US"/>
          </a:p>
        </p:txBody>
      </p:sp>
      <p:sp>
        <p:nvSpPr>
          <p:cNvPr id="1048656" name="Text 3"/>
          <p:cNvSpPr txBox="1"/>
          <p:nvPr/>
        </p:nvSpPr>
        <p:spPr>
          <a:xfrm>
            <a:off x="548640" y="2331720"/>
            <a:ext cx="45720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00" kern="0" lang="en-US" spc="10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PROJECTS COVERED</a:t>
            </a:r>
            <a:endParaRPr dirty="0" sz="1100" lang="en-US"/>
          </a:p>
        </p:txBody>
      </p:sp>
      <p:sp>
        <p:nvSpPr>
          <p:cNvPr id="1048657" name="Shape 4"/>
          <p:cNvSpPr/>
          <p:nvPr/>
        </p:nvSpPr>
        <p:spPr>
          <a:xfrm>
            <a:off x="548640" y="2697480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8658" name="Text 5"/>
          <p:cNvSpPr txBox="1"/>
          <p:nvPr/>
        </p:nvSpPr>
        <p:spPr>
          <a:xfrm>
            <a:off x="685800" y="2697480"/>
            <a:ext cx="315468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00" lang="en-US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AI-Based Email Data Extraction</a:t>
            </a:r>
            <a:endParaRPr dirty="0" sz="1100" lang="en-US"/>
          </a:p>
        </p:txBody>
      </p:sp>
      <p:sp>
        <p:nvSpPr>
          <p:cNvPr id="1048659" name="Shape 6"/>
          <p:cNvSpPr/>
          <p:nvPr/>
        </p:nvSpPr>
        <p:spPr>
          <a:xfrm>
            <a:off x="4160520" y="2697480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8660" name="Text 7"/>
          <p:cNvSpPr txBox="1"/>
          <p:nvPr/>
        </p:nvSpPr>
        <p:spPr>
          <a:xfrm>
            <a:off x="4297680" y="2697480"/>
            <a:ext cx="315468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00" lang="en-US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Lead Scraping Automation</a:t>
            </a:r>
            <a:endParaRPr dirty="0" sz="1100" lang="en-US"/>
          </a:p>
        </p:txBody>
      </p:sp>
      <p:sp>
        <p:nvSpPr>
          <p:cNvPr id="1048661" name="Shape 8"/>
          <p:cNvSpPr/>
          <p:nvPr/>
        </p:nvSpPr>
        <p:spPr>
          <a:xfrm>
            <a:off x="7772400" y="2697480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8662" name="Text 9"/>
          <p:cNvSpPr txBox="1"/>
          <p:nvPr/>
        </p:nvSpPr>
        <p:spPr>
          <a:xfrm>
            <a:off x="7909560" y="2697480"/>
            <a:ext cx="315468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00" lang="en-US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Cold Email Automation</a:t>
            </a:r>
            <a:endParaRPr dirty="0" sz="1100" lang="en-US"/>
          </a:p>
        </p:txBody>
      </p:sp>
      <p:sp>
        <p:nvSpPr>
          <p:cNvPr id="1048663" name="Shape 10"/>
          <p:cNvSpPr/>
          <p:nvPr/>
        </p:nvSpPr>
        <p:spPr>
          <a:xfrm>
            <a:off x="548640" y="3264408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8664" name="Text 11"/>
          <p:cNvSpPr txBox="1"/>
          <p:nvPr/>
        </p:nvSpPr>
        <p:spPr>
          <a:xfrm>
            <a:off x="685800" y="3264408"/>
            <a:ext cx="315468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00" lang="en-US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Meeting Scheduling Automation</a:t>
            </a:r>
            <a:endParaRPr dirty="0" sz="1100" lang="en-US"/>
          </a:p>
        </p:txBody>
      </p:sp>
      <p:sp>
        <p:nvSpPr>
          <p:cNvPr id="1048665" name="Shape 12"/>
          <p:cNvSpPr/>
          <p:nvPr/>
        </p:nvSpPr>
        <p:spPr>
          <a:xfrm>
            <a:off x="4160520" y="3264408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8666" name="Text 13"/>
          <p:cNvSpPr txBox="1"/>
          <p:nvPr/>
        </p:nvSpPr>
        <p:spPr>
          <a:xfrm>
            <a:off x="4297680" y="3264408"/>
            <a:ext cx="315468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00" lang="en-US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AI Voice Agent</a:t>
            </a:r>
            <a:endParaRPr dirty="0" sz="1100" lang="en-US"/>
          </a:p>
        </p:txBody>
      </p:sp>
      <p:sp>
        <p:nvSpPr>
          <p:cNvPr id="1048667" name="Shape 14"/>
          <p:cNvSpPr/>
          <p:nvPr/>
        </p:nvSpPr>
        <p:spPr>
          <a:xfrm>
            <a:off x="7772400" y="3264408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8668" name="Text 15"/>
          <p:cNvSpPr txBox="1"/>
          <p:nvPr/>
        </p:nvSpPr>
        <p:spPr>
          <a:xfrm>
            <a:off x="7909560" y="3264408"/>
            <a:ext cx="315468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00" lang="en-US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Website Appointment Booking Voice Agent</a:t>
            </a:r>
            <a:endParaRPr dirty="0" sz="1100" lang="en-US"/>
          </a:p>
        </p:txBody>
      </p:sp>
      <p:sp>
        <p:nvSpPr>
          <p:cNvPr id="1048669" name="Shape 16"/>
          <p:cNvSpPr/>
          <p:nvPr/>
        </p:nvSpPr>
        <p:spPr>
          <a:xfrm>
            <a:off x="548640" y="3831336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8670" name="Text 17"/>
          <p:cNvSpPr txBox="1"/>
          <p:nvPr/>
        </p:nvSpPr>
        <p:spPr>
          <a:xfrm>
            <a:off x="685800" y="3831336"/>
            <a:ext cx="315468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00" lang="en-US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 Inbound &amp; Outbound Voice Calling</a:t>
            </a:r>
            <a:endParaRPr dirty="0" sz="1100" lang="en-US"/>
          </a:p>
        </p:txBody>
      </p:sp>
      <p:sp>
        <p:nvSpPr>
          <p:cNvPr id="1048671" name="Shape 18"/>
          <p:cNvSpPr/>
          <p:nvPr/>
        </p:nvSpPr>
        <p:spPr>
          <a:xfrm>
            <a:off x="4160520" y="3831336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8672" name="Text 19"/>
          <p:cNvSpPr txBox="1"/>
          <p:nvPr/>
        </p:nvSpPr>
        <p:spPr>
          <a:xfrm>
            <a:off x="4297680" y="3831336"/>
            <a:ext cx="315468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00" lang="en-US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 A/B Testing Automation</a:t>
            </a:r>
            <a:endParaRPr dirty="0" sz="1100" lang="en-US"/>
          </a:p>
        </p:txBody>
      </p:sp>
      <p:sp>
        <p:nvSpPr>
          <p:cNvPr id="1048673" name="Shape 20"/>
          <p:cNvSpPr/>
          <p:nvPr/>
        </p:nvSpPr>
        <p:spPr>
          <a:xfrm>
            <a:off x="7772400" y="3831336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8674" name="Text 21"/>
          <p:cNvSpPr txBox="1"/>
          <p:nvPr/>
        </p:nvSpPr>
        <p:spPr>
          <a:xfrm>
            <a:off x="7909560" y="3831336"/>
            <a:ext cx="315468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00" lang="en-US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 US Market Financial Agent</a:t>
            </a:r>
            <a:endParaRPr dirty="0" sz="1100" lang="en-US"/>
          </a:p>
        </p:txBody>
      </p:sp>
      <p:sp>
        <p:nvSpPr>
          <p:cNvPr id="1048675" name="Shape 22"/>
          <p:cNvSpPr/>
          <p:nvPr/>
        </p:nvSpPr>
        <p:spPr>
          <a:xfrm>
            <a:off x="548640" y="4892040"/>
            <a:ext cx="1065276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</p:spPr>
      </p:sp>
      <p:sp>
        <p:nvSpPr>
          <p:cNvPr id="1048676" name="Text 23"/>
          <p:cNvSpPr txBox="1"/>
          <p:nvPr/>
        </p:nvSpPr>
        <p:spPr>
          <a:xfrm>
            <a:off x="822960" y="5029200"/>
            <a:ext cx="4572000" cy="25603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00" kern="0" lang="en-US" spc="10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STACK</a:t>
            </a:r>
            <a:endParaRPr dirty="0" sz="1100" lang="en-US"/>
          </a:p>
        </p:txBody>
      </p:sp>
      <p:sp>
        <p:nvSpPr>
          <p:cNvPr id="1048677" name="Text 24"/>
          <p:cNvSpPr txBox="1"/>
          <p:nvPr/>
        </p:nvSpPr>
        <p:spPr>
          <a:xfrm>
            <a:off x="822960" y="5321808"/>
            <a:ext cx="10104120" cy="64008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0000"/>
              </a:lnSpc>
              <a:buNone/>
            </a:pPr>
            <a:r>
              <a:rPr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 ·  LLMs  ·  LangChain  ·  CrewAI  ·  LangGraph  ·  RAG  ·  LangSmith  ·  Vapi AI  ·  Make  ·  n8n  ·  Google APIs (Sheets, Calendar, Gmail, Meet)</a:t>
            </a:r>
            <a:endParaRPr dirty="0" sz="1300" lang="en-US"/>
          </a:p>
        </p:txBody>
      </p:sp>
      <p:sp>
        <p:nvSpPr>
          <p:cNvPr id="1048678" name="Text 25"/>
          <p:cNvSpPr/>
          <p:nvPr/>
        </p:nvSpPr>
        <p:spPr>
          <a:xfrm>
            <a:off x="11640312" y="6473952"/>
            <a:ext cx="36576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9AA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dirty="0" sz="100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Text 0"/>
          <p:cNvSpPr txBox="1"/>
          <p:nvPr/>
        </p:nvSpPr>
        <p:spPr>
          <a:xfrm>
            <a:off x="548640" y="320040"/>
            <a:ext cx="73152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03</a:t>
            </a:r>
            <a:endParaRPr dirty="0" sz="1100" lang="en-US"/>
          </a:p>
        </p:txBody>
      </p:sp>
      <p:sp>
        <p:nvSpPr>
          <p:cNvPr id="1048683" name="Text 1"/>
          <p:cNvSpPr txBox="1"/>
          <p:nvPr/>
        </p:nvSpPr>
        <p:spPr>
          <a:xfrm>
            <a:off x="548640" y="594360"/>
            <a:ext cx="105156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000" lang="en-US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</a:t>
            </a:r>
            <a:endParaRPr dirty="0" sz="3000" lang="en-US"/>
          </a:p>
        </p:txBody>
      </p:sp>
      <p:sp>
        <p:nvSpPr>
          <p:cNvPr id="1048684" name="Text 2"/>
          <p:cNvSpPr txBox="1"/>
          <p:nvPr/>
        </p:nvSpPr>
        <p:spPr>
          <a:xfrm>
            <a:off x="548640" y="1417320"/>
            <a:ext cx="10789920" cy="82296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0000"/>
              </a:lnSpc>
              <a:buNone/>
            </a:pPr>
            <a:r>
              <a:rPr dirty="0" sz="13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 digital businesses require efficient automation systems to manage leads, customer communication, appointments, marketing campaigns, and user interactions. At KUAVA Digital, several challenges were identified in managing repetitive, time-consuming business processes manually.</a:t>
            </a:r>
            <a:endParaRPr dirty="0" sz="1300" lang="en-US"/>
          </a:p>
        </p:txBody>
      </p:sp>
      <p:sp>
        <p:nvSpPr>
          <p:cNvPr id="1048685" name="Text 3"/>
          <p:cNvSpPr txBox="1"/>
          <p:nvPr/>
        </p:nvSpPr>
        <p:spPr>
          <a:xfrm>
            <a:off x="548640" y="2377440"/>
            <a:ext cx="45720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00" kern="0" lang="en-US" spc="10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CHALLENGES</a:t>
            </a:r>
            <a:endParaRPr dirty="0" sz="1100" lang="en-US"/>
          </a:p>
        </p:txBody>
      </p:sp>
      <p:sp>
        <p:nvSpPr>
          <p:cNvPr id="1048686" name="Shape 4"/>
          <p:cNvSpPr/>
          <p:nvPr/>
        </p:nvSpPr>
        <p:spPr>
          <a:xfrm>
            <a:off x="548640" y="2743200"/>
            <a:ext cx="384048" cy="384048"/>
          </a:xfrm>
          <a:prstGeom prst="ellipse"/>
          <a:solidFill>
            <a:srgbClr val="D4A017"/>
          </a:solidFill>
        </p:spPr>
      </p:sp>
      <p:sp>
        <p:nvSpPr>
          <p:cNvPr id="1048687" name="Text 5"/>
          <p:cNvSpPr txBox="1"/>
          <p:nvPr/>
        </p:nvSpPr>
        <p:spPr>
          <a:xfrm>
            <a:off x="548640" y="2743200"/>
            <a:ext cx="384048" cy="38404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400" lang="en-US">
                <a:solidFill>
                  <a:srgbClr val="14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dirty="0" sz="1400" lang="en-US"/>
          </a:p>
        </p:txBody>
      </p:sp>
      <p:sp>
        <p:nvSpPr>
          <p:cNvPr id="1048688" name="Text 6"/>
          <p:cNvSpPr txBox="1"/>
          <p:nvPr/>
        </p:nvSpPr>
        <p:spPr>
          <a:xfrm>
            <a:off x="1097280" y="2743200"/>
            <a:ext cx="10149840" cy="38404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Handling unstructured email data and extracting useful information</a:t>
            </a:r>
            <a:endParaRPr dirty="0" sz="1300" lang="en-US"/>
          </a:p>
        </p:txBody>
      </p:sp>
      <p:sp>
        <p:nvSpPr>
          <p:cNvPr id="1048689" name="Shape 7"/>
          <p:cNvSpPr/>
          <p:nvPr/>
        </p:nvSpPr>
        <p:spPr>
          <a:xfrm>
            <a:off x="548640" y="3273552"/>
            <a:ext cx="384048" cy="384048"/>
          </a:xfrm>
          <a:prstGeom prst="ellipse"/>
          <a:solidFill>
            <a:srgbClr val="D4A017"/>
          </a:solidFill>
        </p:spPr>
      </p:sp>
      <p:sp>
        <p:nvSpPr>
          <p:cNvPr id="1048690" name="Text 8"/>
          <p:cNvSpPr txBox="1"/>
          <p:nvPr/>
        </p:nvSpPr>
        <p:spPr>
          <a:xfrm>
            <a:off x="548640" y="3273552"/>
            <a:ext cx="384048" cy="38404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400" lang="en-US">
                <a:solidFill>
                  <a:srgbClr val="14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dirty="0" sz="1400" lang="en-US"/>
          </a:p>
        </p:txBody>
      </p:sp>
      <p:sp>
        <p:nvSpPr>
          <p:cNvPr id="1048691" name="Text 9"/>
          <p:cNvSpPr txBox="1"/>
          <p:nvPr/>
        </p:nvSpPr>
        <p:spPr>
          <a:xfrm>
            <a:off x="1097280" y="3273552"/>
            <a:ext cx="10149840" cy="38404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Collecting, filtering, and managing potential leads at scale</a:t>
            </a:r>
            <a:endParaRPr dirty="0" sz="1300" lang="en-US"/>
          </a:p>
        </p:txBody>
      </p:sp>
      <p:sp>
        <p:nvSpPr>
          <p:cNvPr id="1048692" name="Shape 10"/>
          <p:cNvSpPr/>
          <p:nvPr/>
        </p:nvSpPr>
        <p:spPr>
          <a:xfrm>
            <a:off x="548640" y="3803904"/>
            <a:ext cx="384048" cy="384048"/>
          </a:xfrm>
          <a:prstGeom prst="ellipse"/>
          <a:solidFill>
            <a:srgbClr val="D4A017"/>
          </a:solidFill>
        </p:spPr>
      </p:sp>
      <p:sp>
        <p:nvSpPr>
          <p:cNvPr id="1048693" name="Text 11"/>
          <p:cNvSpPr txBox="1"/>
          <p:nvPr/>
        </p:nvSpPr>
        <p:spPr>
          <a:xfrm>
            <a:off x="548640" y="3803904"/>
            <a:ext cx="384048" cy="38404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400" lang="en-US">
                <a:solidFill>
                  <a:srgbClr val="14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dirty="0" sz="1400" lang="en-US"/>
          </a:p>
        </p:txBody>
      </p:sp>
      <p:sp>
        <p:nvSpPr>
          <p:cNvPr id="1048694" name="Text 12"/>
          <p:cNvSpPr txBox="1"/>
          <p:nvPr/>
        </p:nvSpPr>
        <p:spPr>
          <a:xfrm>
            <a:off x="1097280" y="3803904"/>
            <a:ext cx="10149840" cy="38404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Performing cold-email outreach and meeting scheduling manually</a:t>
            </a:r>
            <a:endParaRPr dirty="0" sz="1300" lang="en-US"/>
          </a:p>
        </p:txBody>
      </p:sp>
      <p:sp>
        <p:nvSpPr>
          <p:cNvPr id="1048695" name="Shape 13"/>
          <p:cNvSpPr/>
          <p:nvPr/>
        </p:nvSpPr>
        <p:spPr>
          <a:xfrm>
            <a:off x="548640" y="4334256"/>
            <a:ext cx="384048" cy="384048"/>
          </a:xfrm>
          <a:prstGeom prst="ellipse"/>
          <a:solidFill>
            <a:srgbClr val="D4A017"/>
          </a:solidFill>
        </p:spPr>
      </p:sp>
      <p:sp>
        <p:nvSpPr>
          <p:cNvPr id="1048696" name="Text 14"/>
          <p:cNvSpPr txBox="1"/>
          <p:nvPr/>
        </p:nvSpPr>
        <p:spPr>
          <a:xfrm>
            <a:off x="548640" y="4334256"/>
            <a:ext cx="384048" cy="38404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400" lang="en-US">
                <a:solidFill>
                  <a:srgbClr val="14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dirty="0" sz="1400" lang="en-US"/>
          </a:p>
        </p:txBody>
      </p:sp>
      <p:sp>
        <p:nvSpPr>
          <p:cNvPr id="1048697" name="Text 15"/>
          <p:cNvSpPr txBox="1"/>
          <p:nvPr/>
        </p:nvSpPr>
        <p:spPr>
          <a:xfrm>
            <a:off x="1097280" y="4334256"/>
            <a:ext cx="10149840" cy="38404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Improving customer interaction through AI-powered voice systems</a:t>
            </a:r>
            <a:endParaRPr dirty="0" sz="1300" lang="en-US"/>
          </a:p>
        </p:txBody>
      </p:sp>
      <p:sp>
        <p:nvSpPr>
          <p:cNvPr id="1048698" name="Shape 16"/>
          <p:cNvSpPr/>
          <p:nvPr/>
        </p:nvSpPr>
        <p:spPr>
          <a:xfrm>
            <a:off x="548640" y="4864608"/>
            <a:ext cx="384048" cy="384048"/>
          </a:xfrm>
          <a:prstGeom prst="ellipse"/>
          <a:solidFill>
            <a:srgbClr val="D4A017"/>
          </a:solidFill>
        </p:spPr>
      </p:sp>
      <p:sp>
        <p:nvSpPr>
          <p:cNvPr id="1048699" name="Text 17"/>
          <p:cNvSpPr txBox="1"/>
          <p:nvPr/>
        </p:nvSpPr>
        <p:spPr>
          <a:xfrm>
            <a:off x="548640" y="4864608"/>
            <a:ext cx="384048" cy="384048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400" lang="en-US">
                <a:solidFill>
                  <a:srgbClr val="14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dirty="0" sz="1400" lang="en-US"/>
          </a:p>
        </p:txBody>
      </p:sp>
      <p:sp>
        <p:nvSpPr>
          <p:cNvPr id="1048700" name="Text 18"/>
          <p:cNvSpPr txBox="1"/>
          <p:nvPr/>
        </p:nvSpPr>
        <p:spPr>
          <a:xfrm>
            <a:off x="1097280" y="4864608"/>
            <a:ext cx="10149840" cy="384048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Running A/B tests and analyzing US financial market data efficiently</a:t>
            </a:r>
            <a:endParaRPr dirty="0" sz="1300" lang="en-US"/>
          </a:p>
        </p:txBody>
      </p:sp>
      <p:sp>
        <p:nvSpPr>
          <p:cNvPr id="1048701" name="Shape 19"/>
          <p:cNvSpPr/>
          <p:nvPr/>
        </p:nvSpPr>
        <p:spPr>
          <a:xfrm>
            <a:off x="548640" y="5486400"/>
            <a:ext cx="10652760" cy="685800"/>
          </a:xfrm>
          <a:prstGeom prst="roundRect">
            <a:avLst>
              <a:gd name="adj" fmla="val 8000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8702" name="Text 20"/>
          <p:cNvSpPr txBox="1"/>
          <p:nvPr/>
        </p:nvSpPr>
        <p:spPr>
          <a:xfrm>
            <a:off x="777240" y="5486400"/>
            <a:ext cx="10195560" cy="6858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i="1" lang="en-US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These challenges required integrating AI, LLMs, workflow automation, APIs, databases, and modern AI frameworks to improve efficiency, accuracy, and customer engagement.</a:t>
            </a:r>
            <a:endParaRPr dirty="0" sz="1150" lang="en-US"/>
          </a:p>
        </p:txBody>
      </p:sp>
      <p:sp>
        <p:nvSpPr>
          <p:cNvPr id="1048703" name="Text 21"/>
          <p:cNvSpPr/>
          <p:nvPr/>
        </p:nvSpPr>
        <p:spPr>
          <a:xfrm>
            <a:off x="11640312" y="6473952"/>
            <a:ext cx="36576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9AA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dirty="0" sz="1000"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7" name="Text 0"/>
          <p:cNvSpPr txBox="1"/>
          <p:nvPr/>
        </p:nvSpPr>
        <p:spPr>
          <a:xfrm>
            <a:off x="548640" y="320040"/>
            <a:ext cx="73152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03</a:t>
            </a:r>
            <a:endParaRPr dirty="0" sz="1100" lang="en-US"/>
          </a:p>
        </p:txBody>
      </p:sp>
      <p:sp>
        <p:nvSpPr>
          <p:cNvPr id="1048708" name="Text 1"/>
          <p:cNvSpPr txBox="1"/>
          <p:nvPr/>
        </p:nvSpPr>
        <p:spPr>
          <a:xfrm>
            <a:off x="548640" y="594360"/>
            <a:ext cx="105156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000" lang="en-US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Objectives</a:t>
            </a:r>
            <a:endParaRPr dirty="0" sz="3000" lang="en-US"/>
          </a:p>
        </p:txBody>
      </p:sp>
      <p:sp>
        <p:nvSpPr>
          <p:cNvPr id="1048709" name="Shape 2"/>
          <p:cNvSpPr/>
          <p:nvPr/>
        </p:nvSpPr>
        <p:spPr>
          <a:xfrm>
            <a:off x="548640" y="1508760"/>
            <a:ext cx="5120640" cy="822960"/>
          </a:xfrm>
          <a:prstGeom prst="roundRect">
            <a:avLst>
              <a:gd name="adj" fmla="val 7778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8710" name="Text 3"/>
          <p:cNvSpPr txBox="1"/>
          <p:nvPr/>
        </p:nvSpPr>
        <p:spPr>
          <a:xfrm>
            <a:off x="658368" y="1600200"/>
            <a:ext cx="54864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200" lang="en-US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dirty="0" sz="2200" lang="en-US"/>
          </a:p>
        </p:txBody>
      </p:sp>
      <p:sp>
        <p:nvSpPr>
          <p:cNvPr id="1048711" name="Text 4"/>
          <p:cNvSpPr txBox="1"/>
          <p:nvPr/>
        </p:nvSpPr>
        <p:spPr>
          <a:xfrm>
            <a:off x="1234440" y="1581912"/>
            <a:ext cx="4251960" cy="676656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Automatically extract structured data from unstructured emails</a:t>
            </a:r>
            <a:endParaRPr dirty="0" sz="1150" lang="en-US"/>
          </a:p>
        </p:txBody>
      </p:sp>
      <p:sp>
        <p:nvSpPr>
          <p:cNvPr id="1048712" name="Shape 5"/>
          <p:cNvSpPr/>
          <p:nvPr/>
        </p:nvSpPr>
        <p:spPr>
          <a:xfrm>
            <a:off x="5852160" y="1508760"/>
            <a:ext cx="5120640" cy="822960"/>
          </a:xfrm>
          <a:prstGeom prst="roundRect">
            <a:avLst>
              <a:gd name="adj" fmla="val 7778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8713" name="Text 6"/>
          <p:cNvSpPr txBox="1"/>
          <p:nvPr/>
        </p:nvSpPr>
        <p:spPr>
          <a:xfrm>
            <a:off x="5961888" y="1600200"/>
            <a:ext cx="54864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200" lang="en-US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dirty="0" sz="2200" lang="en-US"/>
          </a:p>
        </p:txBody>
      </p:sp>
      <p:sp>
        <p:nvSpPr>
          <p:cNvPr id="1048714" name="Text 7"/>
          <p:cNvSpPr txBox="1"/>
          <p:nvPr/>
        </p:nvSpPr>
        <p:spPr>
          <a:xfrm>
            <a:off x="6537960" y="1581912"/>
            <a:ext cx="4251960" cy="676656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 lead collection, filtering, and organization</a:t>
            </a:r>
            <a:endParaRPr dirty="0" sz="1150" lang="en-US"/>
          </a:p>
        </p:txBody>
      </p:sp>
      <p:sp>
        <p:nvSpPr>
          <p:cNvPr id="1048715" name="Shape 8"/>
          <p:cNvSpPr/>
          <p:nvPr/>
        </p:nvSpPr>
        <p:spPr>
          <a:xfrm>
            <a:off x="548640" y="2468880"/>
            <a:ext cx="5120640" cy="822960"/>
          </a:xfrm>
          <a:prstGeom prst="roundRect">
            <a:avLst>
              <a:gd name="adj" fmla="val 7778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8716" name="Text 9"/>
          <p:cNvSpPr txBox="1"/>
          <p:nvPr/>
        </p:nvSpPr>
        <p:spPr>
          <a:xfrm>
            <a:off x="658368" y="2560320"/>
            <a:ext cx="54864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200" lang="en-US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dirty="0" sz="2200" lang="en-US"/>
          </a:p>
        </p:txBody>
      </p:sp>
      <p:sp>
        <p:nvSpPr>
          <p:cNvPr id="1048717" name="Text 10"/>
          <p:cNvSpPr txBox="1"/>
          <p:nvPr/>
        </p:nvSpPr>
        <p:spPr>
          <a:xfrm>
            <a:off x="1234440" y="2542032"/>
            <a:ext cx="4251960" cy="676656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 personalized cold-email outreach and follow-ups</a:t>
            </a:r>
            <a:endParaRPr dirty="0" sz="1150" lang="en-US"/>
          </a:p>
        </p:txBody>
      </p:sp>
      <p:sp>
        <p:nvSpPr>
          <p:cNvPr id="1048718" name="Shape 11"/>
          <p:cNvSpPr/>
          <p:nvPr/>
        </p:nvSpPr>
        <p:spPr>
          <a:xfrm>
            <a:off x="5852160" y="2468880"/>
            <a:ext cx="5120640" cy="822960"/>
          </a:xfrm>
          <a:prstGeom prst="roundRect">
            <a:avLst>
              <a:gd name="adj" fmla="val 7778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8719" name="Text 12"/>
          <p:cNvSpPr txBox="1"/>
          <p:nvPr/>
        </p:nvSpPr>
        <p:spPr>
          <a:xfrm>
            <a:off x="5961888" y="2560320"/>
            <a:ext cx="54864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200" lang="en-US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dirty="0" sz="2200" lang="en-US"/>
          </a:p>
        </p:txBody>
      </p:sp>
      <p:sp>
        <p:nvSpPr>
          <p:cNvPr id="1048720" name="Text 13"/>
          <p:cNvSpPr txBox="1"/>
          <p:nvPr/>
        </p:nvSpPr>
        <p:spPr>
          <a:xfrm>
            <a:off x="6537960" y="2542032"/>
            <a:ext cx="4251960" cy="676656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 meeting scheduling, Google Meet links, and SMS notifications</a:t>
            </a:r>
            <a:endParaRPr dirty="0" sz="1150" lang="en-US"/>
          </a:p>
        </p:txBody>
      </p:sp>
      <p:sp>
        <p:nvSpPr>
          <p:cNvPr id="1048721" name="Shape 14"/>
          <p:cNvSpPr/>
          <p:nvPr/>
        </p:nvSpPr>
        <p:spPr>
          <a:xfrm>
            <a:off x="548640" y="3429000"/>
            <a:ext cx="5120640" cy="822960"/>
          </a:xfrm>
          <a:prstGeom prst="roundRect">
            <a:avLst>
              <a:gd name="adj" fmla="val 7778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8722" name="Text 15"/>
          <p:cNvSpPr txBox="1"/>
          <p:nvPr/>
        </p:nvSpPr>
        <p:spPr>
          <a:xfrm>
            <a:off x="658368" y="3520440"/>
            <a:ext cx="54864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200" lang="en-US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dirty="0" sz="2200" lang="en-US"/>
          </a:p>
        </p:txBody>
      </p:sp>
      <p:sp>
        <p:nvSpPr>
          <p:cNvPr id="1048723" name="Text 16"/>
          <p:cNvSpPr txBox="1"/>
          <p:nvPr/>
        </p:nvSpPr>
        <p:spPr>
          <a:xfrm>
            <a:off x="1234440" y="3502152"/>
            <a:ext cx="4251960" cy="676656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AI voice agents for real-time conversations and appointment booking</a:t>
            </a:r>
            <a:endParaRPr dirty="0" sz="1150" lang="en-US"/>
          </a:p>
        </p:txBody>
      </p:sp>
      <p:sp>
        <p:nvSpPr>
          <p:cNvPr id="1048724" name="Shape 17"/>
          <p:cNvSpPr/>
          <p:nvPr/>
        </p:nvSpPr>
        <p:spPr>
          <a:xfrm>
            <a:off x="5852160" y="3429000"/>
            <a:ext cx="5120640" cy="822960"/>
          </a:xfrm>
          <a:prstGeom prst="roundRect">
            <a:avLst>
              <a:gd name="adj" fmla="val 7778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8725" name="Text 18"/>
          <p:cNvSpPr txBox="1"/>
          <p:nvPr/>
        </p:nvSpPr>
        <p:spPr>
          <a:xfrm>
            <a:off x="5961888" y="3520440"/>
            <a:ext cx="54864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200" lang="en-US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dirty="0" sz="2200" lang="en-US"/>
          </a:p>
        </p:txBody>
      </p:sp>
      <p:sp>
        <p:nvSpPr>
          <p:cNvPr id="1048726" name="Text 19"/>
          <p:cNvSpPr txBox="1"/>
          <p:nvPr/>
        </p:nvSpPr>
        <p:spPr>
          <a:xfrm>
            <a:off x="6537960" y="3502152"/>
            <a:ext cx="4251960" cy="676656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Enable website voice interaction via the “Book Appointment” feature</a:t>
            </a:r>
            <a:endParaRPr dirty="0" sz="1150" lang="en-US"/>
          </a:p>
        </p:txBody>
      </p:sp>
      <p:sp>
        <p:nvSpPr>
          <p:cNvPr id="1048727" name="Shape 20"/>
          <p:cNvSpPr/>
          <p:nvPr/>
        </p:nvSpPr>
        <p:spPr>
          <a:xfrm>
            <a:off x="548640" y="4389120"/>
            <a:ext cx="5120640" cy="822960"/>
          </a:xfrm>
          <a:prstGeom prst="roundRect">
            <a:avLst>
              <a:gd name="adj" fmla="val 7778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8728" name="Text 21"/>
          <p:cNvSpPr txBox="1"/>
          <p:nvPr/>
        </p:nvSpPr>
        <p:spPr>
          <a:xfrm>
            <a:off x="658368" y="4480560"/>
            <a:ext cx="54864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200" lang="en-US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</a:t>
            </a:r>
            <a:endParaRPr dirty="0" sz="2200" lang="en-US"/>
          </a:p>
        </p:txBody>
      </p:sp>
      <p:sp>
        <p:nvSpPr>
          <p:cNvPr id="1048729" name="Text 22"/>
          <p:cNvSpPr txBox="1"/>
          <p:nvPr/>
        </p:nvSpPr>
        <p:spPr>
          <a:xfrm>
            <a:off x="1234440" y="4462272"/>
            <a:ext cx="4251960" cy="676656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 A/B testing to improve marketing performance</a:t>
            </a:r>
            <a:endParaRPr dirty="0" sz="1150" lang="en-US"/>
          </a:p>
        </p:txBody>
      </p:sp>
      <p:sp>
        <p:nvSpPr>
          <p:cNvPr id="1048730" name="Shape 23"/>
          <p:cNvSpPr/>
          <p:nvPr/>
        </p:nvSpPr>
        <p:spPr>
          <a:xfrm>
            <a:off x="5852160" y="4389120"/>
            <a:ext cx="5120640" cy="822960"/>
          </a:xfrm>
          <a:prstGeom prst="roundRect">
            <a:avLst>
              <a:gd name="adj" fmla="val 7778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8731" name="Text 24"/>
          <p:cNvSpPr txBox="1"/>
          <p:nvPr/>
        </p:nvSpPr>
        <p:spPr>
          <a:xfrm>
            <a:off x="5961888" y="4480560"/>
            <a:ext cx="54864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200" lang="en-US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</a:t>
            </a:r>
            <a:endParaRPr dirty="0" sz="2200" lang="en-US"/>
          </a:p>
        </p:txBody>
      </p:sp>
      <p:sp>
        <p:nvSpPr>
          <p:cNvPr id="1048732" name="Text 25"/>
          <p:cNvSpPr txBox="1"/>
          <p:nvPr/>
        </p:nvSpPr>
        <p:spPr>
          <a:xfrm>
            <a:off x="6537960" y="4462272"/>
            <a:ext cx="4251960" cy="676656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 US market financial agent for market insights</a:t>
            </a:r>
            <a:endParaRPr dirty="0" sz="1150" lang="en-US"/>
          </a:p>
        </p:txBody>
      </p:sp>
      <p:sp>
        <p:nvSpPr>
          <p:cNvPr id="1048733" name="Text 26"/>
          <p:cNvSpPr txBox="1"/>
          <p:nvPr/>
        </p:nvSpPr>
        <p:spPr>
          <a:xfrm>
            <a:off x="548640" y="5486400"/>
            <a:ext cx="10652760" cy="64008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0000"/>
              </a:lnSpc>
              <a:buNone/>
            </a:pPr>
            <a:r>
              <a:rPr b="1" dirty="0" sz="1250" lang="en-US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 goal: </a:t>
            </a:r>
            <a:r>
              <a:rPr dirty="0" sz="125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apply AI, LLMs, LangChain, CrewAI, LangGraph, RAG, LangSmith, and workflow automation to build scalable, real-world business solutions.</a:t>
            </a:r>
            <a:endParaRPr dirty="0" sz="1250" lang="en-US"/>
          </a:p>
        </p:txBody>
      </p:sp>
      <p:sp>
        <p:nvSpPr>
          <p:cNvPr id="1048734" name="Text 27"/>
          <p:cNvSpPr/>
          <p:nvPr/>
        </p:nvSpPr>
        <p:spPr>
          <a:xfrm>
            <a:off x="11640312" y="6473952"/>
            <a:ext cx="36576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9AA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dirty="0" sz="1000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8" name="Text 0"/>
          <p:cNvSpPr txBox="1"/>
          <p:nvPr/>
        </p:nvSpPr>
        <p:spPr>
          <a:xfrm>
            <a:off x="548640" y="320040"/>
            <a:ext cx="73152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03</a:t>
            </a:r>
            <a:endParaRPr dirty="0" sz="1100" lang="en-US"/>
          </a:p>
        </p:txBody>
      </p:sp>
      <p:sp>
        <p:nvSpPr>
          <p:cNvPr id="1048739" name="Text 1"/>
          <p:cNvSpPr txBox="1"/>
          <p:nvPr/>
        </p:nvSpPr>
        <p:spPr>
          <a:xfrm>
            <a:off x="548640" y="594360"/>
            <a:ext cx="105156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000" lang="en-US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Scope of the Project</a:t>
            </a:r>
            <a:endParaRPr dirty="0" sz="3000" lang="en-US"/>
          </a:p>
        </p:txBody>
      </p:sp>
      <p:sp>
        <p:nvSpPr>
          <p:cNvPr id="1048740" name="Text 2"/>
          <p:cNvSpPr txBox="1"/>
          <p:nvPr/>
        </p:nvSpPr>
        <p:spPr>
          <a:xfrm>
            <a:off x="548640" y="1371600"/>
            <a:ext cx="10789920" cy="64008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0000"/>
              </a:lnSpc>
              <a:buNone/>
            </a:pPr>
            <a:r>
              <a:rPr dirty="0" sz="13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scope covered design, development, and implementation of nine AI-powered automation systems across lead management, communication, scheduling, voice interaction, and financial analysis.</a:t>
            </a:r>
            <a:endParaRPr dirty="0" sz="1300" lang="en-US"/>
          </a:p>
        </p:txBody>
      </p:sp>
      <p:sp>
        <p:nvSpPr>
          <p:cNvPr id="1048741" name="Shape 3"/>
          <p:cNvSpPr/>
          <p:nvPr/>
        </p:nvSpPr>
        <p:spPr>
          <a:xfrm>
            <a:off x="548640" y="2212848"/>
            <a:ext cx="54864" cy="594360"/>
          </a:xfrm>
          <a:prstGeom prst="rect"/>
          <a:solidFill>
            <a:srgbClr val="D4A017"/>
          </a:solidFill>
        </p:spPr>
      </p:sp>
      <p:sp>
        <p:nvSpPr>
          <p:cNvPr id="1048742" name="Text 4"/>
          <p:cNvSpPr txBox="1"/>
          <p:nvPr/>
        </p:nvSpPr>
        <p:spPr>
          <a:xfrm>
            <a:off x="731520" y="2148840"/>
            <a:ext cx="3246120" cy="777240"/>
          </a:xfrm>
          <a:prstGeom prst="rect"/>
          <a:noFill/>
        </p:spPr>
        <p:txBody>
          <a:bodyPr anchor="t" rtlCol="0" wrap="square"/>
          <a:p>
            <a:pPr indent="0" marL="0">
              <a:lnSpc>
                <a:spcPct val="110000"/>
              </a:lnSpc>
              <a:buNone/>
            </a:pPr>
            <a:r>
              <a:rPr dirty="0" sz="11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AI-Based Email Data Extraction — structured info from unstructured emails</a:t>
            </a:r>
            <a:endParaRPr dirty="0" sz="1100" lang="en-US"/>
          </a:p>
        </p:txBody>
      </p:sp>
      <p:sp>
        <p:nvSpPr>
          <p:cNvPr id="1048743" name="Shape 5"/>
          <p:cNvSpPr/>
          <p:nvPr/>
        </p:nvSpPr>
        <p:spPr>
          <a:xfrm>
            <a:off x="4160520" y="2212848"/>
            <a:ext cx="54864" cy="594360"/>
          </a:xfrm>
          <a:prstGeom prst="rect"/>
          <a:solidFill>
            <a:srgbClr val="D4A017"/>
          </a:solidFill>
        </p:spPr>
      </p:sp>
      <p:sp>
        <p:nvSpPr>
          <p:cNvPr id="1048744" name="Text 6"/>
          <p:cNvSpPr txBox="1"/>
          <p:nvPr/>
        </p:nvSpPr>
        <p:spPr>
          <a:xfrm>
            <a:off x="4343400" y="2148840"/>
            <a:ext cx="3246120" cy="777240"/>
          </a:xfrm>
          <a:prstGeom prst="rect"/>
          <a:noFill/>
        </p:spPr>
        <p:txBody>
          <a:bodyPr anchor="t" rtlCol="0" wrap="square"/>
          <a:p>
            <a:pPr indent="0" marL="0">
              <a:lnSpc>
                <a:spcPct val="110000"/>
              </a:lnSpc>
              <a:buNone/>
            </a:pPr>
            <a:r>
              <a:rPr dirty="0" sz="11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Lead Scraping Automation — collect &amp; organize potential leads</a:t>
            </a:r>
            <a:endParaRPr dirty="0" sz="1100" lang="en-US"/>
          </a:p>
        </p:txBody>
      </p:sp>
      <p:sp>
        <p:nvSpPr>
          <p:cNvPr id="1048745" name="Shape 7"/>
          <p:cNvSpPr/>
          <p:nvPr/>
        </p:nvSpPr>
        <p:spPr>
          <a:xfrm>
            <a:off x="7772400" y="2212848"/>
            <a:ext cx="54864" cy="594360"/>
          </a:xfrm>
          <a:prstGeom prst="rect"/>
          <a:solidFill>
            <a:srgbClr val="D4A017"/>
          </a:solidFill>
        </p:spPr>
      </p:sp>
      <p:sp>
        <p:nvSpPr>
          <p:cNvPr id="1048746" name="Text 8"/>
          <p:cNvSpPr txBox="1"/>
          <p:nvPr/>
        </p:nvSpPr>
        <p:spPr>
          <a:xfrm>
            <a:off x="7955280" y="2148840"/>
            <a:ext cx="3246120" cy="777240"/>
          </a:xfrm>
          <a:prstGeom prst="rect"/>
          <a:noFill/>
        </p:spPr>
        <p:txBody>
          <a:bodyPr anchor="t" rtlCol="0" wrap="square"/>
          <a:p>
            <a:pPr indent="0" marL="0">
              <a:lnSpc>
                <a:spcPct val="110000"/>
              </a:lnSpc>
              <a:buNone/>
            </a:pPr>
            <a:r>
              <a:rPr dirty="0" sz="11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Cold Email Automation — personalized outreach workflows</a:t>
            </a:r>
            <a:endParaRPr dirty="0" sz="1100" lang="en-US"/>
          </a:p>
        </p:txBody>
      </p:sp>
      <p:sp>
        <p:nvSpPr>
          <p:cNvPr id="1048747" name="Shape 9"/>
          <p:cNvSpPr/>
          <p:nvPr/>
        </p:nvSpPr>
        <p:spPr>
          <a:xfrm>
            <a:off x="548640" y="3127248"/>
            <a:ext cx="54864" cy="594360"/>
          </a:xfrm>
          <a:prstGeom prst="rect"/>
          <a:solidFill>
            <a:srgbClr val="D4A017"/>
          </a:solidFill>
        </p:spPr>
      </p:sp>
      <p:sp>
        <p:nvSpPr>
          <p:cNvPr id="1048748" name="Text 10"/>
          <p:cNvSpPr txBox="1"/>
          <p:nvPr/>
        </p:nvSpPr>
        <p:spPr>
          <a:xfrm>
            <a:off x="731520" y="3063240"/>
            <a:ext cx="3246120" cy="777240"/>
          </a:xfrm>
          <a:prstGeom prst="rect"/>
          <a:noFill/>
        </p:spPr>
        <p:txBody>
          <a:bodyPr anchor="t" rtlCol="0" wrap="square"/>
          <a:p>
            <a:pPr indent="0" marL="0">
              <a:lnSpc>
                <a:spcPct val="110000"/>
              </a:lnSpc>
              <a:buNone/>
            </a:pPr>
            <a:r>
              <a:rPr dirty="0" sz="11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Meeting Scheduling Automation — slots, Meet links, SMS notifications</a:t>
            </a:r>
            <a:endParaRPr dirty="0" sz="1100" lang="en-US"/>
          </a:p>
        </p:txBody>
      </p:sp>
      <p:sp>
        <p:nvSpPr>
          <p:cNvPr id="1048749" name="Shape 11"/>
          <p:cNvSpPr/>
          <p:nvPr/>
        </p:nvSpPr>
        <p:spPr>
          <a:xfrm>
            <a:off x="4160520" y="3127248"/>
            <a:ext cx="54864" cy="594360"/>
          </a:xfrm>
          <a:prstGeom prst="rect"/>
          <a:solidFill>
            <a:srgbClr val="D4A017"/>
          </a:solidFill>
        </p:spPr>
      </p:sp>
      <p:sp>
        <p:nvSpPr>
          <p:cNvPr id="1048750" name="Text 12"/>
          <p:cNvSpPr txBox="1"/>
          <p:nvPr/>
        </p:nvSpPr>
        <p:spPr>
          <a:xfrm>
            <a:off x="4343400" y="3063240"/>
            <a:ext cx="3246120" cy="777240"/>
          </a:xfrm>
          <a:prstGeom prst="rect"/>
          <a:noFill/>
        </p:spPr>
        <p:txBody>
          <a:bodyPr anchor="t" rtlCol="0" wrap="square"/>
          <a:p>
            <a:pPr indent="0" marL="0">
              <a:lnSpc>
                <a:spcPct val="110000"/>
              </a:lnSpc>
              <a:buNone/>
            </a:pPr>
            <a:r>
              <a:rPr dirty="0" sz="11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Voice Agents — natural conversations, appointment booking, calling</a:t>
            </a:r>
            <a:endParaRPr dirty="0" sz="1100" lang="en-US"/>
          </a:p>
        </p:txBody>
      </p:sp>
      <p:sp>
        <p:nvSpPr>
          <p:cNvPr id="1048751" name="Shape 13"/>
          <p:cNvSpPr/>
          <p:nvPr/>
        </p:nvSpPr>
        <p:spPr>
          <a:xfrm>
            <a:off x="7772400" y="3127248"/>
            <a:ext cx="54864" cy="594360"/>
          </a:xfrm>
          <a:prstGeom prst="rect"/>
          <a:solidFill>
            <a:srgbClr val="D4A017"/>
          </a:solidFill>
        </p:spPr>
      </p:sp>
      <p:sp>
        <p:nvSpPr>
          <p:cNvPr id="1048752" name="Text 14"/>
          <p:cNvSpPr txBox="1"/>
          <p:nvPr/>
        </p:nvSpPr>
        <p:spPr>
          <a:xfrm>
            <a:off x="7955280" y="3063240"/>
            <a:ext cx="3246120" cy="777240"/>
          </a:xfrm>
          <a:prstGeom prst="rect"/>
          <a:noFill/>
        </p:spPr>
        <p:txBody>
          <a:bodyPr anchor="t" rtlCol="0" wrap="square"/>
          <a:p>
            <a:pPr indent="0" marL="0">
              <a:lnSpc>
                <a:spcPct val="110000"/>
              </a:lnSpc>
              <a:buNone/>
            </a:pPr>
            <a:r>
              <a:rPr dirty="0" sz="11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Website Voice Interaction — triggered via “Book Appointment”</a:t>
            </a:r>
            <a:endParaRPr dirty="0" sz="1100" lang="en-US"/>
          </a:p>
        </p:txBody>
      </p:sp>
      <p:sp>
        <p:nvSpPr>
          <p:cNvPr id="1048753" name="Shape 15"/>
          <p:cNvSpPr/>
          <p:nvPr/>
        </p:nvSpPr>
        <p:spPr>
          <a:xfrm>
            <a:off x="548640" y="4041648"/>
            <a:ext cx="54864" cy="594360"/>
          </a:xfrm>
          <a:prstGeom prst="rect"/>
          <a:solidFill>
            <a:srgbClr val="D4A017"/>
          </a:solidFill>
        </p:spPr>
      </p:sp>
      <p:sp>
        <p:nvSpPr>
          <p:cNvPr id="1048754" name="Text 16"/>
          <p:cNvSpPr txBox="1"/>
          <p:nvPr/>
        </p:nvSpPr>
        <p:spPr>
          <a:xfrm>
            <a:off x="731520" y="3977640"/>
            <a:ext cx="3246120" cy="777240"/>
          </a:xfrm>
          <a:prstGeom prst="rect"/>
          <a:noFill/>
        </p:spPr>
        <p:txBody>
          <a:bodyPr anchor="t" rtlCol="0" wrap="square"/>
          <a:p>
            <a:pPr indent="0" marL="0">
              <a:lnSpc>
                <a:spcPct val="110000"/>
              </a:lnSpc>
              <a:buNone/>
            </a:pPr>
            <a:r>
              <a:rPr dirty="0" sz="11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Database-Driven AI Agents — context-aware responses</a:t>
            </a:r>
            <a:endParaRPr dirty="0" sz="1100" lang="en-US"/>
          </a:p>
        </p:txBody>
      </p:sp>
      <p:sp>
        <p:nvSpPr>
          <p:cNvPr id="1048755" name="Shape 17"/>
          <p:cNvSpPr/>
          <p:nvPr/>
        </p:nvSpPr>
        <p:spPr>
          <a:xfrm>
            <a:off x="4160520" y="4041648"/>
            <a:ext cx="54864" cy="594360"/>
          </a:xfrm>
          <a:prstGeom prst="rect"/>
          <a:solidFill>
            <a:srgbClr val="D4A017"/>
          </a:solidFill>
        </p:spPr>
      </p:sp>
      <p:sp>
        <p:nvSpPr>
          <p:cNvPr id="1048756" name="Text 18"/>
          <p:cNvSpPr txBox="1"/>
          <p:nvPr/>
        </p:nvSpPr>
        <p:spPr>
          <a:xfrm>
            <a:off x="4343400" y="3977640"/>
            <a:ext cx="3246120" cy="777240"/>
          </a:xfrm>
          <a:prstGeom prst="rect"/>
          <a:noFill/>
        </p:spPr>
        <p:txBody>
          <a:bodyPr anchor="t" rtlCol="0" wrap="square"/>
          <a:p>
            <a:pPr indent="0" marL="0">
              <a:lnSpc>
                <a:spcPct val="110000"/>
              </a:lnSpc>
              <a:buNone/>
            </a:pPr>
            <a:r>
              <a:rPr dirty="0" sz="11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A/B Testing Automation — campaign comparison</a:t>
            </a:r>
            <a:endParaRPr dirty="0" sz="1100" lang="en-US"/>
          </a:p>
        </p:txBody>
      </p:sp>
      <p:sp>
        <p:nvSpPr>
          <p:cNvPr id="1048757" name="Shape 19"/>
          <p:cNvSpPr/>
          <p:nvPr/>
        </p:nvSpPr>
        <p:spPr>
          <a:xfrm>
            <a:off x="7772400" y="4041648"/>
            <a:ext cx="54864" cy="594360"/>
          </a:xfrm>
          <a:prstGeom prst="rect"/>
          <a:solidFill>
            <a:srgbClr val="D4A017"/>
          </a:solidFill>
        </p:spPr>
      </p:sp>
      <p:sp>
        <p:nvSpPr>
          <p:cNvPr id="1048758" name="Text 20"/>
          <p:cNvSpPr txBox="1"/>
          <p:nvPr/>
        </p:nvSpPr>
        <p:spPr>
          <a:xfrm>
            <a:off x="7955280" y="3977640"/>
            <a:ext cx="3246120" cy="777240"/>
          </a:xfrm>
          <a:prstGeom prst="rect"/>
          <a:noFill/>
        </p:spPr>
        <p:txBody>
          <a:bodyPr anchor="t" rtlCol="0" wrap="square"/>
          <a:p>
            <a:pPr indent="0" marL="0">
              <a:lnSpc>
                <a:spcPct val="110000"/>
              </a:lnSpc>
              <a:buNone/>
            </a:pPr>
            <a:r>
              <a:rPr dirty="0" sz="11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 Market Financial Agent — market insights via RAG</a:t>
            </a:r>
            <a:endParaRPr dirty="0" sz="1100" lang="en-US"/>
          </a:p>
        </p:txBody>
      </p:sp>
      <p:sp>
        <p:nvSpPr>
          <p:cNvPr id="1048759" name="Text 21"/>
          <p:cNvSpPr txBox="1"/>
          <p:nvPr/>
        </p:nvSpPr>
        <p:spPr>
          <a:xfrm>
            <a:off x="548640" y="5943600"/>
            <a:ext cx="1078992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200" lang="en-US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Technologies: </a:t>
            </a:r>
            <a:r>
              <a:rPr dirty="0" sz="12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Python, LLMs, LangChain, CrewAI, LangGraph, RAG, LangSmith, Vapi AI, APIs, databases, Make, n8n</a:t>
            </a:r>
            <a:endParaRPr dirty="0" sz="1200" lang="en-US"/>
          </a:p>
        </p:txBody>
      </p:sp>
      <p:sp>
        <p:nvSpPr>
          <p:cNvPr id="1048760" name="Text 22"/>
          <p:cNvSpPr/>
          <p:nvPr/>
        </p:nvSpPr>
        <p:spPr>
          <a:xfrm>
            <a:off x="11640312" y="6473952"/>
            <a:ext cx="36576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9AA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dirty="0" sz="1000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4" name="Text 0"/>
          <p:cNvSpPr txBox="1"/>
          <p:nvPr/>
        </p:nvSpPr>
        <p:spPr>
          <a:xfrm>
            <a:off x="548640" y="320040"/>
            <a:ext cx="73152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04</a:t>
            </a:r>
            <a:endParaRPr dirty="0" sz="1100" lang="en-US"/>
          </a:p>
        </p:txBody>
      </p:sp>
      <p:sp>
        <p:nvSpPr>
          <p:cNvPr id="1048765" name="Text 1"/>
          <p:cNvSpPr txBox="1"/>
          <p:nvPr/>
        </p:nvSpPr>
        <p:spPr>
          <a:xfrm>
            <a:off x="548640" y="594360"/>
            <a:ext cx="105156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000" lang="en-US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Tools &amp; Technologies Used</a:t>
            </a:r>
            <a:endParaRPr dirty="0" sz="3000" lang="en-US"/>
          </a:p>
        </p:txBody>
      </p:sp>
      <p:graphicFrame>
        <p:nvGraphicFramePr>
          <p:cNvPr id="4194304" name="Table 0"/>
          <p:cNvGraphicFramePr>
            <a:graphicFrameLocks noGrp="1"/>
          </p:cNvGraphicFramePr>
          <p:nvPr/>
        </p:nvGraphicFramePr>
        <p:xfrm>
          <a:off x="548640" y="1417320"/>
          <a:ext cx="11064240" cy="5129784"/>
        </p:xfrm>
        <a:graphic>
          <a:graphicData uri="http://schemas.openxmlformats.org/drawingml/2006/table">
            <a:tbl>
              <a:tblPr/>
              <a:tblGrid>
                <a:gridCol w="502920"/>
                <a:gridCol w="3703320"/>
                <a:gridCol w="6858000"/>
              </a:tblGrid>
              <a:tr h="466344"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b="1" dirty="0" sz="1150" lang="en-US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#</a:t>
                      </a:r>
                      <a:endParaRPr dirty="0" sz="1150"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b="1" dirty="0" sz="1150" lang="en-US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Project</a:t>
                      </a:r>
                      <a:endParaRPr dirty="0" sz="1150"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b="1" dirty="0" sz="1150" lang="en-US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Technologies</a:t>
                      </a:r>
                      <a:endParaRPr dirty="0" sz="1150"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66344"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050" lang="en-US">
                          <a:solidFill>
                            <a:srgbClr val="3A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dirty="0" sz="1050"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b="1" dirty="0" sz="1050" lang="en-US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AI-Based Email Data Extraction</a:t>
                      </a:r>
                      <a:endParaRPr dirty="0" sz="1050"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050" lang="en-US">
                          <a:solidFill>
                            <a:srgbClr val="3A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Python, LLMs, Gmail API, Sheets API, LangChain, Make/n8n</a:t>
                      </a:r>
                      <a:endParaRPr dirty="0" sz="1050"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050" lang="en-US">
                          <a:solidFill>
                            <a:srgbClr val="3A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dirty="0" sz="1050"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b="1" dirty="0" sz="1050" lang="en-US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Lead Scraping Automation</a:t>
                      </a:r>
                      <a:endParaRPr dirty="0" sz="1050"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050" lang="en-US">
                          <a:solidFill>
                            <a:srgbClr val="3A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Python, Web Scraping, APIs, Databases, Make/n8n</a:t>
                      </a:r>
                      <a:endParaRPr dirty="0" sz="1050"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466344"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050" lang="en-US">
                          <a:solidFill>
                            <a:srgbClr val="3A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dirty="0" sz="1050"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b="1" dirty="0" sz="1050" lang="en-US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Cold Email Automation</a:t>
                      </a:r>
                      <a:endParaRPr dirty="0" sz="1050"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050" lang="en-US">
                          <a:solidFill>
                            <a:srgbClr val="3A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Python, Email APIs, LLMs, Make/n8n, Databases</a:t>
                      </a:r>
                      <a:endParaRPr dirty="0" sz="1050"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050" lang="en-US">
                          <a:solidFill>
                            <a:srgbClr val="3A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4</a:t>
                      </a:r>
                      <a:endParaRPr dirty="0" sz="1050"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b="1" dirty="0" sz="1050" lang="en-US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Meeting Scheduling Automation</a:t>
                      </a:r>
                      <a:endParaRPr dirty="0" sz="1050"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050" lang="en-US">
                          <a:solidFill>
                            <a:srgbClr val="3A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Calendar API, Meet Integration, SMS APIs, Make/n8n</a:t>
                      </a:r>
                      <a:endParaRPr dirty="0" sz="1050"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466344"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050" lang="en-US">
                          <a:solidFill>
                            <a:srgbClr val="3A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dirty="0" sz="1050"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b="1" dirty="0" sz="1050" lang="en-US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AI Voice Agent</a:t>
                      </a:r>
                      <a:endParaRPr dirty="0" sz="1050"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050" lang="en-US">
                          <a:solidFill>
                            <a:srgbClr val="3A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Vapi AI, LLMs, STT, TTS, APIs, Python</a:t>
                      </a:r>
                      <a:endParaRPr dirty="0" sz="1050"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050" lang="en-US">
                          <a:solidFill>
                            <a:srgbClr val="3A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6</a:t>
                      </a:r>
                      <a:endParaRPr dirty="0" sz="1050"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b="1" dirty="0" sz="1050" lang="en-US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Website Appointment Booking Voice Agent</a:t>
                      </a:r>
                      <a:endParaRPr dirty="0" sz="1050"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050" lang="en-US">
                          <a:solidFill>
                            <a:srgbClr val="3A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Vapi AI, JavaScript, APIs, LLMs, Databases</a:t>
                      </a:r>
                      <a:endParaRPr dirty="0" sz="1050"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466344"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050" lang="en-US">
                          <a:solidFill>
                            <a:srgbClr val="3A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7</a:t>
                      </a:r>
                      <a:endParaRPr dirty="0" sz="1050"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b="1" dirty="0" sz="1050" lang="en-US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Inbound &amp; Outbound Voice Calling</a:t>
                      </a:r>
                      <a:endParaRPr dirty="0" sz="1050"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050" lang="en-US">
                          <a:solidFill>
                            <a:srgbClr val="3A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Vapi AI, APIs, Databases, LLMs, Python</a:t>
                      </a:r>
                      <a:endParaRPr dirty="0" sz="1050"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050" lang="en-US">
                          <a:solidFill>
                            <a:srgbClr val="3A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8</a:t>
                      </a:r>
                      <a:endParaRPr dirty="0" sz="1050"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b="1" dirty="0" sz="1050" lang="en-US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Database-Driven AI Agents</a:t>
                      </a:r>
                      <a:endParaRPr dirty="0" sz="1050"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050" lang="en-US">
                          <a:solidFill>
                            <a:srgbClr val="3A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Python, SQL/Databases, LangChain, LLMs, APIs</a:t>
                      </a:r>
                      <a:endParaRPr dirty="0" sz="1050"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  <a:tr h="466344"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050" lang="en-US">
                          <a:solidFill>
                            <a:srgbClr val="3A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9</a:t>
                      </a:r>
                      <a:endParaRPr dirty="0" sz="1050"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b="1" dirty="0" sz="1050" lang="en-US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A/B Testing Automation</a:t>
                      </a:r>
                      <a:endParaRPr dirty="0" sz="1050"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050" lang="en-US">
                          <a:solidFill>
                            <a:srgbClr val="3A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Python, APIs, Databases, Make/n8n, Analytics Tools</a:t>
                      </a:r>
                      <a:endParaRPr dirty="0" sz="1050"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p>
                      <a:pPr algn="ctr" indent="0" marL="0">
                        <a:buNone/>
                      </a:pPr>
                      <a:r>
                        <a:rPr dirty="0" sz="1050" lang="en-US">
                          <a:solidFill>
                            <a:srgbClr val="3A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10</a:t>
                      </a:r>
                      <a:endParaRPr dirty="0" sz="1050"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b="1" dirty="0" sz="1050" lang="en-US">
                          <a:solidFill>
                            <a:srgbClr val="1E2761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 Market Financial Agent</a:t>
                      </a:r>
                      <a:endParaRPr dirty="0" sz="1050"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1050" lang="en-US">
                          <a:solidFill>
                            <a:srgbClr val="3A3A3A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LangChain, LangGraph, CrewAI, RAG, LangSmith, Financial APIs</a:t>
                      </a:r>
                      <a:endParaRPr dirty="0" sz="1050" lang="en-US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C"/>
                    </a:solidFill>
                  </a:tcPr>
                </a:tc>
              </a:tr>
            </a:tbl>
          </a:graphicData>
        </a:graphic>
      </p:graphicFrame>
      <p:sp>
        <p:nvSpPr>
          <p:cNvPr id="1048766" name="Text 2"/>
          <p:cNvSpPr/>
          <p:nvPr/>
        </p:nvSpPr>
        <p:spPr>
          <a:xfrm>
            <a:off x="11640312" y="6473952"/>
            <a:ext cx="36576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9AA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dirty="0" sz="1000"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0" name="Text 0"/>
          <p:cNvSpPr txBox="1"/>
          <p:nvPr/>
        </p:nvSpPr>
        <p:spPr>
          <a:xfrm>
            <a:off x="731520" y="2468880"/>
            <a:ext cx="73152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kern="0" lang="en-US" spc="20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05</a:t>
            </a:r>
            <a:endParaRPr dirty="0" sz="1300" lang="en-US"/>
          </a:p>
        </p:txBody>
      </p:sp>
      <p:sp>
        <p:nvSpPr>
          <p:cNvPr id="1048771" name="Text 1"/>
          <p:cNvSpPr txBox="1"/>
          <p:nvPr/>
        </p:nvSpPr>
        <p:spPr>
          <a:xfrm>
            <a:off x="731520" y="2834640"/>
            <a:ext cx="10058400" cy="82296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800" lang="en-US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Architecture</a:t>
            </a:r>
            <a:endParaRPr dirty="0" sz="3800" lang="en-US"/>
          </a:p>
        </p:txBody>
      </p:sp>
      <p:sp>
        <p:nvSpPr>
          <p:cNvPr id="1048772" name="Text 2"/>
          <p:cNvSpPr txBox="1"/>
          <p:nvPr/>
        </p:nvSpPr>
        <p:spPr>
          <a:xfrm>
            <a:off x="731520" y="3703320"/>
            <a:ext cx="9601200" cy="91440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30000"/>
              </a:lnSpc>
              <a:buNone/>
            </a:pPr>
            <a:r>
              <a:rPr dirty="0" sz="1500" lang="en-US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Nine end-to-end automation pipelines were designed and implemented — spanning data extraction, outreach, scheduling, voice AI, testing, and financial analysis. The following slides summarize each pipeline's flow.</a:t>
            </a:r>
            <a:endParaRPr dirty="0" sz="1500" lang="en-US"/>
          </a:p>
        </p:txBody>
      </p:sp>
      <p:sp>
        <p:nvSpPr>
          <p:cNvPr id="1048773" name="Text 3"/>
          <p:cNvSpPr/>
          <p:nvPr/>
        </p:nvSpPr>
        <p:spPr>
          <a:xfrm>
            <a:off x="11640312" y="6473952"/>
            <a:ext cx="36576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9AA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dirty="0" sz="1000"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7" name="Text 0"/>
          <p:cNvSpPr txBox="1"/>
          <p:nvPr/>
        </p:nvSpPr>
        <p:spPr>
          <a:xfrm>
            <a:off x="548640" y="320040"/>
            <a:ext cx="73152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05 · PROJECTS 1–3</a:t>
            </a:r>
            <a:endParaRPr dirty="0" sz="1100" lang="en-US"/>
          </a:p>
        </p:txBody>
      </p:sp>
      <p:sp>
        <p:nvSpPr>
          <p:cNvPr id="1048778" name="Text 1"/>
          <p:cNvSpPr txBox="1"/>
          <p:nvPr/>
        </p:nvSpPr>
        <p:spPr>
          <a:xfrm>
            <a:off x="548640" y="594360"/>
            <a:ext cx="105156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000" lang="en-US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Architecture: Email, Lead &amp; Outreach Automation</a:t>
            </a:r>
            <a:endParaRPr dirty="0" sz="3000" lang="en-US"/>
          </a:p>
        </p:txBody>
      </p:sp>
      <p:sp>
        <p:nvSpPr>
          <p:cNvPr id="1048779" name="Shape 2"/>
          <p:cNvSpPr/>
          <p:nvPr/>
        </p:nvSpPr>
        <p:spPr>
          <a:xfrm>
            <a:off x="548640" y="1600200"/>
            <a:ext cx="3429000" cy="4480560"/>
          </a:xfrm>
          <a:prstGeom prst="roundRect">
            <a:avLst>
              <a:gd name="adj" fmla="val 1867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8780" name="Shape 3"/>
          <p:cNvSpPr/>
          <p:nvPr/>
        </p:nvSpPr>
        <p:spPr>
          <a:xfrm>
            <a:off x="548640" y="1600200"/>
            <a:ext cx="3429000" cy="457200"/>
          </a:xfrm>
          <a:prstGeom prst="rect"/>
          <a:solidFill>
            <a:srgbClr val="1A73E8"/>
          </a:solidFill>
        </p:spPr>
      </p:sp>
      <p:sp>
        <p:nvSpPr>
          <p:cNvPr id="1048781" name="Text 4"/>
          <p:cNvSpPr txBox="1"/>
          <p:nvPr/>
        </p:nvSpPr>
        <p:spPr>
          <a:xfrm>
            <a:off x="685800" y="1600200"/>
            <a:ext cx="315468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Email Data Extraction</a:t>
            </a:r>
            <a:endParaRPr dirty="0" sz="1300" lang="en-US"/>
          </a:p>
        </p:txBody>
      </p:sp>
      <p:sp>
        <p:nvSpPr>
          <p:cNvPr id="1048782" name="Shape 5"/>
          <p:cNvSpPr/>
          <p:nvPr/>
        </p:nvSpPr>
        <p:spPr>
          <a:xfrm>
            <a:off x="685800" y="2378964"/>
            <a:ext cx="256032" cy="256032"/>
          </a:xfrm>
          <a:prstGeom prst="ellipse"/>
          <a:solidFill>
            <a:srgbClr val="1A73E8"/>
          </a:solidFill>
        </p:spPr>
      </p:sp>
      <p:sp>
        <p:nvSpPr>
          <p:cNvPr id="1048783" name="Text 6"/>
          <p:cNvSpPr txBox="1"/>
          <p:nvPr/>
        </p:nvSpPr>
        <p:spPr>
          <a:xfrm>
            <a:off x="685800" y="2378964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dirty="0" sz="900" lang="en-US"/>
          </a:p>
        </p:txBody>
      </p:sp>
      <p:sp>
        <p:nvSpPr>
          <p:cNvPr id="1048784" name="Text 7"/>
          <p:cNvSpPr txBox="1"/>
          <p:nvPr/>
        </p:nvSpPr>
        <p:spPr>
          <a:xfrm>
            <a:off x="1051560" y="2194560"/>
            <a:ext cx="2788920" cy="62484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 Received</a:t>
            </a:r>
            <a:endParaRPr dirty="0" sz="1000" lang="en-US"/>
          </a:p>
        </p:txBody>
      </p:sp>
      <p:sp>
        <p:nvSpPr>
          <p:cNvPr id="1048785" name="Shape 8"/>
          <p:cNvSpPr/>
          <p:nvPr/>
        </p:nvSpPr>
        <p:spPr>
          <a:xfrm>
            <a:off x="685800" y="3003804"/>
            <a:ext cx="256032" cy="256032"/>
          </a:xfrm>
          <a:prstGeom prst="ellipse"/>
          <a:solidFill>
            <a:srgbClr val="1A73E8"/>
          </a:solidFill>
        </p:spPr>
      </p:sp>
      <p:sp>
        <p:nvSpPr>
          <p:cNvPr id="1048786" name="Text 9"/>
          <p:cNvSpPr txBox="1"/>
          <p:nvPr/>
        </p:nvSpPr>
        <p:spPr>
          <a:xfrm>
            <a:off x="685800" y="3003804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dirty="0" sz="900" lang="en-US"/>
          </a:p>
        </p:txBody>
      </p:sp>
      <p:sp>
        <p:nvSpPr>
          <p:cNvPr id="1048787" name="Text 10"/>
          <p:cNvSpPr txBox="1"/>
          <p:nvPr/>
        </p:nvSpPr>
        <p:spPr>
          <a:xfrm>
            <a:off x="1051560" y="2819400"/>
            <a:ext cx="2788920" cy="62484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Extract Content / Metadata</a:t>
            </a:r>
            <a:endParaRPr dirty="0" sz="1000" lang="en-US"/>
          </a:p>
        </p:txBody>
      </p:sp>
      <p:sp>
        <p:nvSpPr>
          <p:cNvPr id="1048788" name="Shape 11"/>
          <p:cNvSpPr/>
          <p:nvPr/>
        </p:nvSpPr>
        <p:spPr>
          <a:xfrm>
            <a:off x="685800" y="3628644"/>
            <a:ext cx="256032" cy="256032"/>
          </a:xfrm>
          <a:prstGeom prst="ellipse"/>
          <a:solidFill>
            <a:srgbClr val="1A73E8"/>
          </a:solidFill>
        </p:spPr>
      </p:sp>
      <p:sp>
        <p:nvSpPr>
          <p:cNvPr id="1048789" name="Text 12"/>
          <p:cNvSpPr txBox="1"/>
          <p:nvPr/>
        </p:nvSpPr>
        <p:spPr>
          <a:xfrm>
            <a:off x="685800" y="3628644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dirty="0" sz="900" lang="en-US"/>
          </a:p>
        </p:txBody>
      </p:sp>
      <p:sp>
        <p:nvSpPr>
          <p:cNvPr id="1048790" name="Text 13"/>
          <p:cNvSpPr txBox="1"/>
          <p:nvPr/>
        </p:nvSpPr>
        <p:spPr>
          <a:xfrm>
            <a:off x="1051560" y="3444240"/>
            <a:ext cx="2788920" cy="62484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AI/LLM Extraction</a:t>
            </a:r>
            <a:endParaRPr dirty="0" sz="1000" lang="en-US"/>
          </a:p>
        </p:txBody>
      </p:sp>
      <p:sp>
        <p:nvSpPr>
          <p:cNvPr id="1048791" name="Shape 14"/>
          <p:cNvSpPr/>
          <p:nvPr/>
        </p:nvSpPr>
        <p:spPr>
          <a:xfrm>
            <a:off x="685800" y="4253484"/>
            <a:ext cx="256032" cy="256032"/>
          </a:xfrm>
          <a:prstGeom prst="ellipse"/>
          <a:solidFill>
            <a:srgbClr val="1A73E8"/>
          </a:solidFill>
        </p:spPr>
      </p:sp>
      <p:sp>
        <p:nvSpPr>
          <p:cNvPr id="1048792" name="Text 15"/>
          <p:cNvSpPr txBox="1"/>
          <p:nvPr/>
        </p:nvSpPr>
        <p:spPr>
          <a:xfrm>
            <a:off x="685800" y="4253484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dirty="0" sz="900" lang="en-US"/>
          </a:p>
        </p:txBody>
      </p:sp>
      <p:sp>
        <p:nvSpPr>
          <p:cNvPr id="1048793" name="Text 16"/>
          <p:cNvSpPr txBox="1"/>
          <p:nvPr/>
        </p:nvSpPr>
        <p:spPr>
          <a:xfrm>
            <a:off x="1051560" y="4069080"/>
            <a:ext cx="2788920" cy="62484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 Data</a:t>
            </a:r>
            <a:endParaRPr dirty="0" sz="1000" lang="en-US"/>
          </a:p>
        </p:txBody>
      </p:sp>
      <p:sp>
        <p:nvSpPr>
          <p:cNvPr id="1048794" name="Shape 17"/>
          <p:cNvSpPr/>
          <p:nvPr/>
        </p:nvSpPr>
        <p:spPr>
          <a:xfrm>
            <a:off x="685800" y="4878324"/>
            <a:ext cx="256032" cy="256032"/>
          </a:xfrm>
          <a:prstGeom prst="ellipse"/>
          <a:solidFill>
            <a:srgbClr val="1A73E8"/>
          </a:solidFill>
        </p:spPr>
      </p:sp>
      <p:sp>
        <p:nvSpPr>
          <p:cNvPr id="1048795" name="Text 18"/>
          <p:cNvSpPr txBox="1"/>
          <p:nvPr/>
        </p:nvSpPr>
        <p:spPr>
          <a:xfrm>
            <a:off x="685800" y="4878324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dirty="0" sz="900" lang="en-US"/>
          </a:p>
        </p:txBody>
      </p:sp>
      <p:sp>
        <p:nvSpPr>
          <p:cNvPr id="1048796" name="Text 19"/>
          <p:cNvSpPr txBox="1"/>
          <p:nvPr/>
        </p:nvSpPr>
        <p:spPr>
          <a:xfrm>
            <a:off x="1051560" y="4693920"/>
            <a:ext cx="2788920" cy="62484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Sync to Sheets/DB</a:t>
            </a:r>
            <a:endParaRPr dirty="0" sz="1000" lang="en-US"/>
          </a:p>
        </p:txBody>
      </p:sp>
      <p:sp>
        <p:nvSpPr>
          <p:cNvPr id="1048797" name="Shape 20"/>
          <p:cNvSpPr/>
          <p:nvPr/>
        </p:nvSpPr>
        <p:spPr>
          <a:xfrm>
            <a:off x="685800" y="5503164"/>
            <a:ext cx="256032" cy="256032"/>
          </a:xfrm>
          <a:prstGeom prst="ellipse"/>
          <a:solidFill>
            <a:srgbClr val="1A73E8"/>
          </a:solidFill>
        </p:spPr>
      </p:sp>
      <p:sp>
        <p:nvSpPr>
          <p:cNvPr id="1048798" name="Text 21"/>
          <p:cNvSpPr txBox="1"/>
          <p:nvPr/>
        </p:nvSpPr>
        <p:spPr>
          <a:xfrm>
            <a:off x="685800" y="5503164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dirty="0" sz="900" lang="en-US"/>
          </a:p>
        </p:txBody>
      </p:sp>
      <p:sp>
        <p:nvSpPr>
          <p:cNvPr id="1048799" name="Text 22"/>
          <p:cNvSpPr txBox="1"/>
          <p:nvPr/>
        </p:nvSpPr>
        <p:spPr>
          <a:xfrm>
            <a:off x="1051560" y="5318760"/>
            <a:ext cx="2788920" cy="62484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Trigger via Make/n8n</a:t>
            </a:r>
            <a:endParaRPr dirty="0" sz="1000" lang="en-US"/>
          </a:p>
        </p:txBody>
      </p:sp>
      <p:sp>
        <p:nvSpPr>
          <p:cNvPr id="1048800" name="Shape 23"/>
          <p:cNvSpPr/>
          <p:nvPr/>
        </p:nvSpPr>
        <p:spPr>
          <a:xfrm>
            <a:off x="4160520" y="1600200"/>
            <a:ext cx="3429000" cy="4480560"/>
          </a:xfrm>
          <a:prstGeom prst="roundRect">
            <a:avLst>
              <a:gd name="adj" fmla="val 1867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8801" name="Shape 24"/>
          <p:cNvSpPr/>
          <p:nvPr/>
        </p:nvSpPr>
        <p:spPr>
          <a:xfrm>
            <a:off x="4160520" y="1600200"/>
            <a:ext cx="3429000" cy="457200"/>
          </a:xfrm>
          <a:prstGeom prst="rect"/>
          <a:solidFill>
            <a:srgbClr val="188038"/>
          </a:solidFill>
        </p:spPr>
      </p:sp>
      <p:sp>
        <p:nvSpPr>
          <p:cNvPr id="1048802" name="Text 25"/>
          <p:cNvSpPr txBox="1"/>
          <p:nvPr/>
        </p:nvSpPr>
        <p:spPr>
          <a:xfrm>
            <a:off x="4297680" y="1600200"/>
            <a:ext cx="315468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Lead Scraping Automation</a:t>
            </a:r>
            <a:endParaRPr dirty="0" sz="1300" lang="en-US"/>
          </a:p>
        </p:txBody>
      </p:sp>
      <p:sp>
        <p:nvSpPr>
          <p:cNvPr id="1048803" name="Shape 26"/>
          <p:cNvSpPr/>
          <p:nvPr/>
        </p:nvSpPr>
        <p:spPr>
          <a:xfrm>
            <a:off x="4297680" y="2441448"/>
            <a:ext cx="256032" cy="256032"/>
          </a:xfrm>
          <a:prstGeom prst="ellipse"/>
          <a:solidFill>
            <a:srgbClr val="188038"/>
          </a:solidFill>
        </p:spPr>
      </p:sp>
      <p:sp>
        <p:nvSpPr>
          <p:cNvPr id="1048804" name="Text 27"/>
          <p:cNvSpPr txBox="1"/>
          <p:nvPr/>
        </p:nvSpPr>
        <p:spPr>
          <a:xfrm>
            <a:off x="4297680" y="2441448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dirty="0" sz="900" lang="en-US"/>
          </a:p>
        </p:txBody>
      </p:sp>
      <p:sp>
        <p:nvSpPr>
          <p:cNvPr id="1048805" name="Text 28"/>
          <p:cNvSpPr txBox="1"/>
          <p:nvPr/>
        </p:nvSpPr>
        <p:spPr>
          <a:xfrm>
            <a:off x="4663440" y="2194560"/>
            <a:ext cx="2788920" cy="749808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Identify Sources</a:t>
            </a:r>
            <a:endParaRPr dirty="0" sz="1000" lang="en-US"/>
          </a:p>
        </p:txBody>
      </p:sp>
      <p:sp>
        <p:nvSpPr>
          <p:cNvPr id="1048806" name="Shape 29"/>
          <p:cNvSpPr/>
          <p:nvPr/>
        </p:nvSpPr>
        <p:spPr>
          <a:xfrm>
            <a:off x="4297680" y="3191256"/>
            <a:ext cx="256032" cy="256032"/>
          </a:xfrm>
          <a:prstGeom prst="ellipse"/>
          <a:solidFill>
            <a:srgbClr val="188038"/>
          </a:solidFill>
        </p:spPr>
      </p:sp>
      <p:sp>
        <p:nvSpPr>
          <p:cNvPr id="1048807" name="Text 30"/>
          <p:cNvSpPr txBox="1"/>
          <p:nvPr/>
        </p:nvSpPr>
        <p:spPr>
          <a:xfrm>
            <a:off x="4297680" y="3191256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dirty="0" sz="900" lang="en-US"/>
          </a:p>
        </p:txBody>
      </p:sp>
      <p:sp>
        <p:nvSpPr>
          <p:cNvPr id="1048808" name="Text 31"/>
          <p:cNvSpPr txBox="1"/>
          <p:nvPr/>
        </p:nvSpPr>
        <p:spPr>
          <a:xfrm>
            <a:off x="4663440" y="2944368"/>
            <a:ext cx="2788920" cy="749808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Collection (APIs/Scraping)</a:t>
            </a:r>
            <a:endParaRPr dirty="0" sz="1000" lang="en-US"/>
          </a:p>
        </p:txBody>
      </p:sp>
      <p:sp>
        <p:nvSpPr>
          <p:cNvPr id="1048809" name="Shape 32"/>
          <p:cNvSpPr/>
          <p:nvPr/>
        </p:nvSpPr>
        <p:spPr>
          <a:xfrm>
            <a:off x="4297680" y="3941064"/>
            <a:ext cx="256032" cy="256032"/>
          </a:xfrm>
          <a:prstGeom prst="ellipse"/>
          <a:solidFill>
            <a:srgbClr val="188038"/>
          </a:solidFill>
        </p:spPr>
      </p:sp>
      <p:sp>
        <p:nvSpPr>
          <p:cNvPr id="1048810" name="Text 33"/>
          <p:cNvSpPr txBox="1"/>
          <p:nvPr/>
        </p:nvSpPr>
        <p:spPr>
          <a:xfrm>
            <a:off x="4297680" y="3941064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dirty="0" sz="900" lang="en-US"/>
          </a:p>
        </p:txBody>
      </p:sp>
      <p:sp>
        <p:nvSpPr>
          <p:cNvPr id="1048811" name="Text 34"/>
          <p:cNvSpPr txBox="1"/>
          <p:nvPr/>
        </p:nvSpPr>
        <p:spPr>
          <a:xfrm>
            <a:off x="4663440" y="3694176"/>
            <a:ext cx="2788920" cy="749808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 Data</a:t>
            </a:r>
            <a:endParaRPr dirty="0" sz="1000" lang="en-US"/>
          </a:p>
        </p:txBody>
      </p:sp>
      <p:sp>
        <p:nvSpPr>
          <p:cNvPr id="1048812" name="Shape 35"/>
          <p:cNvSpPr/>
          <p:nvPr/>
        </p:nvSpPr>
        <p:spPr>
          <a:xfrm>
            <a:off x="4297680" y="4690872"/>
            <a:ext cx="256032" cy="256032"/>
          </a:xfrm>
          <a:prstGeom prst="ellipse"/>
          <a:solidFill>
            <a:srgbClr val="188038"/>
          </a:solidFill>
        </p:spPr>
      </p:sp>
      <p:sp>
        <p:nvSpPr>
          <p:cNvPr id="1048813" name="Text 36"/>
          <p:cNvSpPr txBox="1"/>
          <p:nvPr/>
        </p:nvSpPr>
        <p:spPr>
          <a:xfrm>
            <a:off x="4297680" y="4690872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dirty="0" sz="900" lang="en-US"/>
          </a:p>
        </p:txBody>
      </p:sp>
      <p:sp>
        <p:nvSpPr>
          <p:cNvPr id="1048814" name="Text 37"/>
          <p:cNvSpPr txBox="1"/>
          <p:nvPr/>
        </p:nvSpPr>
        <p:spPr>
          <a:xfrm>
            <a:off x="4663440" y="4443984"/>
            <a:ext cx="2788920" cy="749808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Enrich Data</a:t>
            </a:r>
            <a:endParaRPr dirty="0" sz="1000" lang="en-US"/>
          </a:p>
        </p:txBody>
      </p:sp>
      <p:sp>
        <p:nvSpPr>
          <p:cNvPr id="1048815" name="Shape 38"/>
          <p:cNvSpPr/>
          <p:nvPr/>
        </p:nvSpPr>
        <p:spPr>
          <a:xfrm>
            <a:off x="4297680" y="5440680"/>
            <a:ext cx="256032" cy="256032"/>
          </a:xfrm>
          <a:prstGeom prst="ellipse"/>
          <a:solidFill>
            <a:srgbClr val="188038"/>
          </a:solidFill>
        </p:spPr>
      </p:sp>
      <p:sp>
        <p:nvSpPr>
          <p:cNvPr id="1048816" name="Text 39"/>
          <p:cNvSpPr txBox="1"/>
          <p:nvPr/>
        </p:nvSpPr>
        <p:spPr>
          <a:xfrm>
            <a:off x="4297680" y="5440680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dirty="0" sz="900" lang="en-US"/>
          </a:p>
        </p:txBody>
      </p:sp>
      <p:sp>
        <p:nvSpPr>
          <p:cNvPr id="1048817" name="Text 40"/>
          <p:cNvSpPr txBox="1"/>
          <p:nvPr/>
        </p:nvSpPr>
        <p:spPr>
          <a:xfrm>
            <a:off x="4663440" y="5193792"/>
            <a:ext cx="2788920" cy="749808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in Sheets/DB</a:t>
            </a:r>
            <a:endParaRPr dirty="0" sz="1000" lang="en-US"/>
          </a:p>
        </p:txBody>
      </p:sp>
      <p:sp>
        <p:nvSpPr>
          <p:cNvPr id="1048818" name="Shape 41"/>
          <p:cNvSpPr/>
          <p:nvPr/>
        </p:nvSpPr>
        <p:spPr>
          <a:xfrm>
            <a:off x="7772400" y="1600200"/>
            <a:ext cx="3429000" cy="4480560"/>
          </a:xfrm>
          <a:prstGeom prst="roundRect">
            <a:avLst>
              <a:gd name="adj" fmla="val 1867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8819" name="Shape 42"/>
          <p:cNvSpPr/>
          <p:nvPr/>
        </p:nvSpPr>
        <p:spPr>
          <a:xfrm>
            <a:off x="7772400" y="1600200"/>
            <a:ext cx="3429000" cy="457200"/>
          </a:xfrm>
          <a:prstGeom prst="rect"/>
          <a:solidFill>
            <a:srgbClr val="F9AB00"/>
          </a:solidFill>
        </p:spPr>
      </p:sp>
      <p:sp>
        <p:nvSpPr>
          <p:cNvPr id="1048820" name="Text 43"/>
          <p:cNvSpPr txBox="1"/>
          <p:nvPr/>
        </p:nvSpPr>
        <p:spPr>
          <a:xfrm>
            <a:off x="7909560" y="1600200"/>
            <a:ext cx="315468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Cold Email Automation</a:t>
            </a:r>
            <a:endParaRPr dirty="0" sz="1300" lang="en-US"/>
          </a:p>
        </p:txBody>
      </p:sp>
      <p:sp>
        <p:nvSpPr>
          <p:cNvPr id="1048821" name="Shape 44"/>
          <p:cNvSpPr/>
          <p:nvPr/>
        </p:nvSpPr>
        <p:spPr>
          <a:xfrm>
            <a:off x="7909560" y="2441448"/>
            <a:ext cx="256032" cy="256032"/>
          </a:xfrm>
          <a:prstGeom prst="ellipse"/>
          <a:solidFill>
            <a:srgbClr val="F9AB00"/>
          </a:solidFill>
        </p:spPr>
      </p:sp>
      <p:sp>
        <p:nvSpPr>
          <p:cNvPr id="1048822" name="Text 45"/>
          <p:cNvSpPr txBox="1"/>
          <p:nvPr/>
        </p:nvSpPr>
        <p:spPr>
          <a:xfrm>
            <a:off x="7909560" y="2441448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dirty="0" sz="900" lang="en-US"/>
          </a:p>
        </p:txBody>
      </p:sp>
      <p:sp>
        <p:nvSpPr>
          <p:cNvPr id="1048823" name="Text 46"/>
          <p:cNvSpPr txBox="1"/>
          <p:nvPr/>
        </p:nvSpPr>
        <p:spPr>
          <a:xfrm>
            <a:off x="8275320" y="2194560"/>
            <a:ext cx="2788920" cy="749808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 Leads</a:t>
            </a:r>
            <a:endParaRPr dirty="0" sz="1000" lang="en-US"/>
          </a:p>
        </p:txBody>
      </p:sp>
      <p:sp>
        <p:nvSpPr>
          <p:cNvPr id="1048824" name="Shape 47"/>
          <p:cNvSpPr/>
          <p:nvPr/>
        </p:nvSpPr>
        <p:spPr>
          <a:xfrm>
            <a:off x="7909560" y="3191256"/>
            <a:ext cx="256032" cy="256032"/>
          </a:xfrm>
          <a:prstGeom prst="ellipse"/>
          <a:solidFill>
            <a:srgbClr val="F9AB00"/>
          </a:solidFill>
        </p:spPr>
      </p:sp>
      <p:sp>
        <p:nvSpPr>
          <p:cNvPr id="1048825" name="Text 48"/>
          <p:cNvSpPr txBox="1"/>
          <p:nvPr/>
        </p:nvSpPr>
        <p:spPr>
          <a:xfrm>
            <a:off x="7909560" y="3191256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dirty="0" sz="900" lang="en-US"/>
          </a:p>
        </p:txBody>
      </p:sp>
      <p:sp>
        <p:nvSpPr>
          <p:cNvPr id="1048826" name="Text 49"/>
          <p:cNvSpPr txBox="1"/>
          <p:nvPr/>
        </p:nvSpPr>
        <p:spPr>
          <a:xfrm>
            <a:off x="8275320" y="2944368"/>
            <a:ext cx="2788920" cy="749808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AI-Generated Personalized Content</a:t>
            </a:r>
            <a:endParaRPr dirty="0" sz="1000" lang="en-US"/>
          </a:p>
        </p:txBody>
      </p:sp>
      <p:sp>
        <p:nvSpPr>
          <p:cNvPr id="1048827" name="Shape 50"/>
          <p:cNvSpPr/>
          <p:nvPr/>
        </p:nvSpPr>
        <p:spPr>
          <a:xfrm>
            <a:off x="7909560" y="3941064"/>
            <a:ext cx="256032" cy="256032"/>
          </a:xfrm>
          <a:prstGeom prst="ellipse"/>
          <a:solidFill>
            <a:srgbClr val="F9AB00"/>
          </a:solidFill>
        </p:spPr>
      </p:sp>
      <p:sp>
        <p:nvSpPr>
          <p:cNvPr id="1048828" name="Text 51"/>
          <p:cNvSpPr txBox="1"/>
          <p:nvPr/>
        </p:nvSpPr>
        <p:spPr>
          <a:xfrm>
            <a:off x="7909560" y="3941064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dirty="0" sz="900" lang="en-US"/>
          </a:p>
        </p:txBody>
      </p:sp>
      <p:sp>
        <p:nvSpPr>
          <p:cNvPr id="1048829" name="Text 52"/>
          <p:cNvSpPr txBox="1"/>
          <p:nvPr/>
        </p:nvSpPr>
        <p:spPr>
          <a:xfrm>
            <a:off x="8275320" y="3694176"/>
            <a:ext cx="2788920" cy="749808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Schedule &amp; Send</a:t>
            </a:r>
            <a:endParaRPr dirty="0" sz="1000" lang="en-US"/>
          </a:p>
        </p:txBody>
      </p:sp>
      <p:sp>
        <p:nvSpPr>
          <p:cNvPr id="1048830" name="Shape 53"/>
          <p:cNvSpPr/>
          <p:nvPr/>
        </p:nvSpPr>
        <p:spPr>
          <a:xfrm>
            <a:off x="7909560" y="4690872"/>
            <a:ext cx="256032" cy="256032"/>
          </a:xfrm>
          <a:prstGeom prst="ellipse"/>
          <a:solidFill>
            <a:srgbClr val="F9AB00"/>
          </a:solidFill>
        </p:spPr>
      </p:sp>
      <p:sp>
        <p:nvSpPr>
          <p:cNvPr id="1048831" name="Text 54"/>
          <p:cNvSpPr txBox="1"/>
          <p:nvPr/>
        </p:nvSpPr>
        <p:spPr>
          <a:xfrm>
            <a:off x="7909560" y="4690872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dirty="0" sz="900" lang="en-US"/>
          </a:p>
        </p:txBody>
      </p:sp>
      <p:sp>
        <p:nvSpPr>
          <p:cNvPr id="1048832" name="Text 55"/>
          <p:cNvSpPr txBox="1"/>
          <p:nvPr/>
        </p:nvSpPr>
        <p:spPr>
          <a:xfrm>
            <a:off x="8275320" y="4443984"/>
            <a:ext cx="2788920" cy="749808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 Response</a:t>
            </a:r>
            <a:endParaRPr dirty="0" sz="1000" lang="en-US"/>
          </a:p>
        </p:txBody>
      </p:sp>
      <p:sp>
        <p:nvSpPr>
          <p:cNvPr id="1048833" name="Shape 56"/>
          <p:cNvSpPr/>
          <p:nvPr/>
        </p:nvSpPr>
        <p:spPr>
          <a:xfrm>
            <a:off x="7909560" y="5440680"/>
            <a:ext cx="256032" cy="256032"/>
          </a:xfrm>
          <a:prstGeom prst="ellipse"/>
          <a:solidFill>
            <a:srgbClr val="F9AB00"/>
          </a:solidFill>
        </p:spPr>
      </p:sp>
      <p:sp>
        <p:nvSpPr>
          <p:cNvPr id="1048834" name="Text 57"/>
          <p:cNvSpPr txBox="1"/>
          <p:nvPr/>
        </p:nvSpPr>
        <p:spPr>
          <a:xfrm>
            <a:off x="7909560" y="5440680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dirty="0" sz="900" lang="en-US"/>
          </a:p>
        </p:txBody>
      </p:sp>
      <p:sp>
        <p:nvSpPr>
          <p:cNvPr id="1048835" name="Text 58"/>
          <p:cNvSpPr txBox="1"/>
          <p:nvPr/>
        </p:nvSpPr>
        <p:spPr>
          <a:xfrm>
            <a:off x="8275320" y="5193792"/>
            <a:ext cx="2788920" cy="749808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Status / Follow-Up</a:t>
            </a:r>
            <a:endParaRPr dirty="0" sz="1000" lang="en-US"/>
          </a:p>
        </p:txBody>
      </p:sp>
      <p:sp>
        <p:nvSpPr>
          <p:cNvPr id="1048836" name="Text 59"/>
          <p:cNvSpPr/>
          <p:nvPr/>
        </p:nvSpPr>
        <p:spPr>
          <a:xfrm>
            <a:off x="11640312" y="6473952"/>
            <a:ext cx="36576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9AA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dirty="0" sz="1000"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0" name="Text 0"/>
          <p:cNvSpPr txBox="1"/>
          <p:nvPr/>
        </p:nvSpPr>
        <p:spPr>
          <a:xfrm>
            <a:off x="548640" y="320040"/>
            <a:ext cx="73152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05 · PROJECTS 4–6</a:t>
            </a:r>
            <a:endParaRPr dirty="0" sz="1100" lang="en-US"/>
          </a:p>
        </p:txBody>
      </p:sp>
      <p:sp>
        <p:nvSpPr>
          <p:cNvPr id="1048841" name="Text 1"/>
          <p:cNvSpPr txBox="1"/>
          <p:nvPr/>
        </p:nvSpPr>
        <p:spPr>
          <a:xfrm>
            <a:off x="548640" y="594360"/>
            <a:ext cx="105156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000" lang="en-US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Architecture: Scheduling &amp; Voice Agents</a:t>
            </a:r>
            <a:endParaRPr dirty="0" sz="3000" lang="en-US"/>
          </a:p>
        </p:txBody>
      </p:sp>
      <p:sp>
        <p:nvSpPr>
          <p:cNvPr id="1048842" name="Shape 2"/>
          <p:cNvSpPr/>
          <p:nvPr/>
        </p:nvSpPr>
        <p:spPr>
          <a:xfrm>
            <a:off x="548640" y="1600200"/>
            <a:ext cx="3429000" cy="4480560"/>
          </a:xfrm>
          <a:prstGeom prst="roundRect">
            <a:avLst>
              <a:gd name="adj" fmla="val 1867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8843" name="Shape 3"/>
          <p:cNvSpPr/>
          <p:nvPr/>
        </p:nvSpPr>
        <p:spPr>
          <a:xfrm>
            <a:off x="548640" y="1600200"/>
            <a:ext cx="3429000" cy="457200"/>
          </a:xfrm>
          <a:prstGeom prst="rect"/>
          <a:solidFill>
            <a:srgbClr val="D93025"/>
          </a:solidFill>
        </p:spPr>
      </p:sp>
      <p:sp>
        <p:nvSpPr>
          <p:cNvPr id="1048844" name="Text 4"/>
          <p:cNvSpPr txBox="1"/>
          <p:nvPr/>
        </p:nvSpPr>
        <p:spPr>
          <a:xfrm>
            <a:off x="685800" y="1600200"/>
            <a:ext cx="315468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Meeting Scheduling</a:t>
            </a:r>
            <a:endParaRPr dirty="0" sz="1300" lang="en-US"/>
          </a:p>
        </p:txBody>
      </p:sp>
      <p:sp>
        <p:nvSpPr>
          <p:cNvPr id="1048845" name="Shape 5"/>
          <p:cNvSpPr/>
          <p:nvPr/>
        </p:nvSpPr>
        <p:spPr>
          <a:xfrm>
            <a:off x="685800" y="2378964"/>
            <a:ext cx="256032" cy="256032"/>
          </a:xfrm>
          <a:prstGeom prst="ellipse"/>
          <a:solidFill>
            <a:srgbClr val="D93025"/>
          </a:solidFill>
        </p:spPr>
      </p:sp>
      <p:sp>
        <p:nvSpPr>
          <p:cNvPr id="1048846" name="Text 6"/>
          <p:cNvSpPr txBox="1"/>
          <p:nvPr/>
        </p:nvSpPr>
        <p:spPr>
          <a:xfrm>
            <a:off x="685800" y="2378964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dirty="0" sz="900" lang="en-US"/>
          </a:p>
        </p:txBody>
      </p:sp>
      <p:sp>
        <p:nvSpPr>
          <p:cNvPr id="1048847" name="Text 7"/>
          <p:cNvSpPr txBox="1"/>
          <p:nvPr/>
        </p:nvSpPr>
        <p:spPr>
          <a:xfrm>
            <a:off x="1051560" y="2194560"/>
            <a:ext cx="2788920" cy="62484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Receive Request</a:t>
            </a:r>
            <a:endParaRPr dirty="0" sz="1000" lang="en-US"/>
          </a:p>
        </p:txBody>
      </p:sp>
      <p:sp>
        <p:nvSpPr>
          <p:cNvPr id="1048848" name="Shape 8"/>
          <p:cNvSpPr/>
          <p:nvPr/>
        </p:nvSpPr>
        <p:spPr>
          <a:xfrm>
            <a:off x="685800" y="3003804"/>
            <a:ext cx="256032" cy="256032"/>
          </a:xfrm>
          <a:prstGeom prst="ellipse"/>
          <a:solidFill>
            <a:srgbClr val="D93025"/>
          </a:solidFill>
        </p:spPr>
      </p:sp>
      <p:sp>
        <p:nvSpPr>
          <p:cNvPr id="1048849" name="Text 9"/>
          <p:cNvSpPr txBox="1"/>
          <p:nvPr/>
        </p:nvSpPr>
        <p:spPr>
          <a:xfrm>
            <a:off x="685800" y="3003804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dirty="0" sz="900" lang="en-US"/>
          </a:p>
        </p:txBody>
      </p:sp>
      <p:sp>
        <p:nvSpPr>
          <p:cNvPr id="1048850" name="Text 10"/>
          <p:cNvSpPr txBox="1"/>
          <p:nvPr/>
        </p:nvSpPr>
        <p:spPr>
          <a:xfrm>
            <a:off x="1051560" y="2819400"/>
            <a:ext cx="2788920" cy="62484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Slots (Calendar API)</a:t>
            </a:r>
            <a:endParaRPr dirty="0" sz="1000" lang="en-US"/>
          </a:p>
        </p:txBody>
      </p:sp>
      <p:sp>
        <p:nvSpPr>
          <p:cNvPr id="1048851" name="Shape 11"/>
          <p:cNvSpPr/>
          <p:nvPr/>
        </p:nvSpPr>
        <p:spPr>
          <a:xfrm>
            <a:off x="685800" y="3628644"/>
            <a:ext cx="256032" cy="256032"/>
          </a:xfrm>
          <a:prstGeom prst="ellipse"/>
          <a:solidFill>
            <a:srgbClr val="D93025"/>
          </a:solidFill>
        </p:spPr>
      </p:sp>
      <p:sp>
        <p:nvSpPr>
          <p:cNvPr id="1048852" name="Text 12"/>
          <p:cNvSpPr txBox="1"/>
          <p:nvPr/>
        </p:nvSpPr>
        <p:spPr>
          <a:xfrm>
            <a:off x="685800" y="3628644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dirty="0" sz="900" lang="en-US"/>
          </a:p>
        </p:txBody>
      </p:sp>
      <p:sp>
        <p:nvSpPr>
          <p:cNvPr id="1048853" name="Text 13"/>
          <p:cNvSpPr txBox="1"/>
          <p:nvPr/>
        </p:nvSpPr>
        <p:spPr>
          <a:xfrm>
            <a:off x="1051560" y="3444240"/>
            <a:ext cx="2788920" cy="62484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Selects Slot</a:t>
            </a:r>
            <a:endParaRPr dirty="0" sz="1000" lang="en-US"/>
          </a:p>
        </p:txBody>
      </p:sp>
      <p:sp>
        <p:nvSpPr>
          <p:cNvPr id="1048854" name="Shape 14"/>
          <p:cNvSpPr/>
          <p:nvPr/>
        </p:nvSpPr>
        <p:spPr>
          <a:xfrm>
            <a:off x="685800" y="4253484"/>
            <a:ext cx="256032" cy="256032"/>
          </a:xfrm>
          <a:prstGeom prst="ellipse"/>
          <a:solidFill>
            <a:srgbClr val="D93025"/>
          </a:solidFill>
        </p:spPr>
      </p:sp>
      <p:sp>
        <p:nvSpPr>
          <p:cNvPr id="1048855" name="Text 15"/>
          <p:cNvSpPr txBox="1"/>
          <p:nvPr/>
        </p:nvSpPr>
        <p:spPr>
          <a:xfrm>
            <a:off x="685800" y="4253484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dirty="0" sz="900" lang="en-US"/>
          </a:p>
        </p:txBody>
      </p:sp>
      <p:sp>
        <p:nvSpPr>
          <p:cNvPr id="1048856" name="Text 16"/>
          <p:cNvSpPr txBox="1"/>
          <p:nvPr/>
        </p:nvSpPr>
        <p:spPr>
          <a:xfrm>
            <a:off x="1051560" y="4069080"/>
            <a:ext cx="2788920" cy="62484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Meeting</a:t>
            </a:r>
            <a:endParaRPr dirty="0" sz="1000" lang="en-US"/>
          </a:p>
        </p:txBody>
      </p:sp>
      <p:sp>
        <p:nvSpPr>
          <p:cNvPr id="1048857" name="Shape 17"/>
          <p:cNvSpPr/>
          <p:nvPr/>
        </p:nvSpPr>
        <p:spPr>
          <a:xfrm>
            <a:off x="685800" y="4878324"/>
            <a:ext cx="256032" cy="256032"/>
          </a:xfrm>
          <a:prstGeom prst="ellipse"/>
          <a:solidFill>
            <a:srgbClr val="D93025"/>
          </a:solidFill>
        </p:spPr>
      </p:sp>
      <p:sp>
        <p:nvSpPr>
          <p:cNvPr id="1048858" name="Text 18"/>
          <p:cNvSpPr txBox="1"/>
          <p:nvPr/>
        </p:nvSpPr>
        <p:spPr>
          <a:xfrm>
            <a:off x="685800" y="4878324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dirty="0" sz="900" lang="en-US"/>
          </a:p>
        </p:txBody>
      </p:sp>
      <p:sp>
        <p:nvSpPr>
          <p:cNvPr id="1048859" name="Text 19"/>
          <p:cNvSpPr txBox="1"/>
          <p:nvPr/>
        </p:nvSpPr>
        <p:spPr>
          <a:xfrm>
            <a:off x="1051560" y="4693920"/>
            <a:ext cx="2788920" cy="62484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 Meet Link</a:t>
            </a:r>
            <a:endParaRPr dirty="0" sz="1000" lang="en-US"/>
          </a:p>
        </p:txBody>
      </p:sp>
      <p:sp>
        <p:nvSpPr>
          <p:cNvPr id="1048860" name="Shape 20"/>
          <p:cNvSpPr/>
          <p:nvPr/>
        </p:nvSpPr>
        <p:spPr>
          <a:xfrm>
            <a:off x="685800" y="5503164"/>
            <a:ext cx="256032" cy="256032"/>
          </a:xfrm>
          <a:prstGeom prst="ellipse"/>
          <a:solidFill>
            <a:srgbClr val="D93025"/>
          </a:solidFill>
        </p:spPr>
      </p:sp>
      <p:sp>
        <p:nvSpPr>
          <p:cNvPr id="1048861" name="Text 21"/>
          <p:cNvSpPr txBox="1"/>
          <p:nvPr/>
        </p:nvSpPr>
        <p:spPr>
          <a:xfrm>
            <a:off x="685800" y="5503164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dirty="0" sz="900" lang="en-US"/>
          </a:p>
        </p:txBody>
      </p:sp>
      <p:sp>
        <p:nvSpPr>
          <p:cNvPr id="1048862" name="Text 22"/>
          <p:cNvSpPr txBox="1"/>
          <p:nvPr/>
        </p:nvSpPr>
        <p:spPr>
          <a:xfrm>
            <a:off x="1051560" y="5318760"/>
            <a:ext cx="2788920" cy="62484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Send SMS Notification</a:t>
            </a:r>
            <a:endParaRPr dirty="0" sz="1000" lang="en-US"/>
          </a:p>
        </p:txBody>
      </p:sp>
      <p:sp>
        <p:nvSpPr>
          <p:cNvPr id="1048863" name="Shape 23"/>
          <p:cNvSpPr/>
          <p:nvPr/>
        </p:nvSpPr>
        <p:spPr>
          <a:xfrm>
            <a:off x="4160520" y="1600200"/>
            <a:ext cx="3429000" cy="4480560"/>
          </a:xfrm>
          <a:prstGeom prst="roundRect">
            <a:avLst>
              <a:gd name="adj" fmla="val 1867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8864" name="Shape 24"/>
          <p:cNvSpPr/>
          <p:nvPr/>
        </p:nvSpPr>
        <p:spPr>
          <a:xfrm>
            <a:off x="4160520" y="1600200"/>
            <a:ext cx="3429000" cy="457200"/>
          </a:xfrm>
          <a:prstGeom prst="rect"/>
          <a:solidFill>
            <a:srgbClr val="3949AB"/>
          </a:solidFill>
        </p:spPr>
      </p:sp>
      <p:sp>
        <p:nvSpPr>
          <p:cNvPr id="1048865" name="Text 25"/>
          <p:cNvSpPr txBox="1"/>
          <p:nvPr/>
        </p:nvSpPr>
        <p:spPr>
          <a:xfrm>
            <a:off x="4297680" y="1600200"/>
            <a:ext cx="315468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AI Voice Agent</a:t>
            </a:r>
            <a:endParaRPr dirty="0" sz="1300" lang="en-US"/>
          </a:p>
        </p:txBody>
      </p:sp>
      <p:sp>
        <p:nvSpPr>
          <p:cNvPr id="1048866" name="Shape 26"/>
          <p:cNvSpPr/>
          <p:nvPr/>
        </p:nvSpPr>
        <p:spPr>
          <a:xfrm>
            <a:off x="4297680" y="2441448"/>
            <a:ext cx="256032" cy="256032"/>
          </a:xfrm>
          <a:prstGeom prst="ellipse"/>
          <a:solidFill>
            <a:srgbClr val="3949AB"/>
          </a:solidFill>
        </p:spPr>
      </p:sp>
      <p:sp>
        <p:nvSpPr>
          <p:cNvPr id="1048867" name="Text 27"/>
          <p:cNvSpPr txBox="1"/>
          <p:nvPr/>
        </p:nvSpPr>
        <p:spPr>
          <a:xfrm>
            <a:off x="4297680" y="2441448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dirty="0" sz="900" lang="en-US"/>
          </a:p>
        </p:txBody>
      </p:sp>
      <p:sp>
        <p:nvSpPr>
          <p:cNvPr id="1048868" name="Text 28"/>
          <p:cNvSpPr txBox="1"/>
          <p:nvPr/>
        </p:nvSpPr>
        <p:spPr>
          <a:xfrm>
            <a:off x="4663440" y="2194560"/>
            <a:ext cx="2788920" cy="749808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Initiates Call</a:t>
            </a:r>
            <a:endParaRPr dirty="0" sz="1000" lang="en-US"/>
          </a:p>
        </p:txBody>
      </p:sp>
      <p:sp>
        <p:nvSpPr>
          <p:cNvPr id="1048869" name="Shape 29"/>
          <p:cNvSpPr/>
          <p:nvPr/>
        </p:nvSpPr>
        <p:spPr>
          <a:xfrm>
            <a:off x="4297680" y="3191256"/>
            <a:ext cx="256032" cy="256032"/>
          </a:xfrm>
          <a:prstGeom prst="ellipse"/>
          <a:solidFill>
            <a:srgbClr val="3949AB"/>
          </a:solidFill>
        </p:spPr>
      </p:sp>
      <p:sp>
        <p:nvSpPr>
          <p:cNvPr id="1048870" name="Text 30"/>
          <p:cNvSpPr txBox="1"/>
          <p:nvPr/>
        </p:nvSpPr>
        <p:spPr>
          <a:xfrm>
            <a:off x="4297680" y="3191256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dirty="0" sz="900" lang="en-US"/>
          </a:p>
        </p:txBody>
      </p:sp>
      <p:sp>
        <p:nvSpPr>
          <p:cNvPr id="1048871" name="Text 31"/>
          <p:cNvSpPr txBox="1"/>
          <p:nvPr/>
        </p:nvSpPr>
        <p:spPr>
          <a:xfrm>
            <a:off x="4663440" y="2944368"/>
            <a:ext cx="2788920" cy="749808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STT Captures Voice</a:t>
            </a:r>
            <a:endParaRPr dirty="0" sz="1000" lang="en-US"/>
          </a:p>
        </p:txBody>
      </p:sp>
      <p:sp>
        <p:nvSpPr>
          <p:cNvPr id="1048872" name="Shape 32"/>
          <p:cNvSpPr/>
          <p:nvPr/>
        </p:nvSpPr>
        <p:spPr>
          <a:xfrm>
            <a:off x="4297680" y="3941064"/>
            <a:ext cx="256032" cy="256032"/>
          </a:xfrm>
          <a:prstGeom prst="ellipse"/>
          <a:solidFill>
            <a:srgbClr val="3949AB"/>
          </a:solidFill>
        </p:spPr>
      </p:sp>
      <p:sp>
        <p:nvSpPr>
          <p:cNvPr id="1048873" name="Text 33"/>
          <p:cNvSpPr txBox="1"/>
          <p:nvPr/>
        </p:nvSpPr>
        <p:spPr>
          <a:xfrm>
            <a:off x="4297680" y="3941064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dirty="0" sz="900" lang="en-US"/>
          </a:p>
        </p:txBody>
      </p:sp>
      <p:sp>
        <p:nvSpPr>
          <p:cNvPr id="1048874" name="Text 34"/>
          <p:cNvSpPr txBox="1"/>
          <p:nvPr/>
        </p:nvSpPr>
        <p:spPr>
          <a:xfrm>
            <a:off x="4663440" y="3694176"/>
            <a:ext cx="2788920" cy="749808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Processes Query</a:t>
            </a:r>
            <a:endParaRPr dirty="0" sz="1000" lang="en-US"/>
          </a:p>
        </p:txBody>
      </p:sp>
      <p:sp>
        <p:nvSpPr>
          <p:cNvPr id="1048875" name="Shape 35"/>
          <p:cNvSpPr/>
          <p:nvPr/>
        </p:nvSpPr>
        <p:spPr>
          <a:xfrm>
            <a:off x="4297680" y="4690872"/>
            <a:ext cx="256032" cy="256032"/>
          </a:xfrm>
          <a:prstGeom prst="ellipse"/>
          <a:solidFill>
            <a:srgbClr val="3949AB"/>
          </a:solidFill>
        </p:spPr>
      </p:sp>
      <p:sp>
        <p:nvSpPr>
          <p:cNvPr id="1048876" name="Text 36"/>
          <p:cNvSpPr txBox="1"/>
          <p:nvPr/>
        </p:nvSpPr>
        <p:spPr>
          <a:xfrm>
            <a:off x="4297680" y="4690872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dirty="0" sz="900" lang="en-US"/>
          </a:p>
        </p:txBody>
      </p:sp>
      <p:sp>
        <p:nvSpPr>
          <p:cNvPr id="1048877" name="Text 37"/>
          <p:cNvSpPr txBox="1"/>
          <p:nvPr/>
        </p:nvSpPr>
        <p:spPr>
          <a:xfrm>
            <a:off x="4663440" y="4443984"/>
            <a:ext cx="2788920" cy="749808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 Response</a:t>
            </a:r>
            <a:endParaRPr dirty="0" sz="1000" lang="en-US"/>
          </a:p>
        </p:txBody>
      </p:sp>
      <p:sp>
        <p:nvSpPr>
          <p:cNvPr id="1048878" name="Shape 38"/>
          <p:cNvSpPr/>
          <p:nvPr/>
        </p:nvSpPr>
        <p:spPr>
          <a:xfrm>
            <a:off x="4297680" y="5440680"/>
            <a:ext cx="256032" cy="256032"/>
          </a:xfrm>
          <a:prstGeom prst="ellipse"/>
          <a:solidFill>
            <a:srgbClr val="3949AB"/>
          </a:solidFill>
        </p:spPr>
      </p:sp>
      <p:sp>
        <p:nvSpPr>
          <p:cNvPr id="1048879" name="Text 39"/>
          <p:cNvSpPr txBox="1"/>
          <p:nvPr/>
        </p:nvSpPr>
        <p:spPr>
          <a:xfrm>
            <a:off x="4297680" y="5440680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dirty="0" sz="900" lang="en-US"/>
          </a:p>
        </p:txBody>
      </p:sp>
      <p:sp>
        <p:nvSpPr>
          <p:cNvPr id="1048880" name="Text 40"/>
          <p:cNvSpPr txBox="1"/>
          <p:nvPr/>
        </p:nvSpPr>
        <p:spPr>
          <a:xfrm>
            <a:off x="4663440" y="5193792"/>
            <a:ext cx="2788920" cy="749808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TTS Delivers Voice Reply</a:t>
            </a:r>
            <a:endParaRPr dirty="0" sz="1000" lang="en-US"/>
          </a:p>
        </p:txBody>
      </p:sp>
      <p:sp>
        <p:nvSpPr>
          <p:cNvPr id="1048881" name="Shape 41"/>
          <p:cNvSpPr/>
          <p:nvPr/>
        </p:nvSpPr>
        <p:spPr>
          <a:xfrm>
            <a:off x="7772400" y="1600200"/>
            <a:ext cx="3429000" cy="4480560"/>
          </a:xfrm>
          <a:prstGeom prst="roundRect">
            <a:avLst>
              <a:gd name="adj" fmla="val 1867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8882" name="Shape 42"/>
          <p:cNvSpPr/>
          <p:nvPr/>
        </p:nvSpPr>
        <p:spPr>
          <a:xfrm>
            <a:off x="7772400" y="1600200"/>
            <a:ext cx="3429000" cy="457200"/>
          </a:xfrm>
          <a:prstGeom prst="rect"/>
          <a:solidFill>
            <a:srgbClr val="00695C"/>
          </a:solidFill>
        </p:spPr>
      </p:sp>
      <p:sp>
        <p:nvSpPr>
          <p:cNvPr id="1048883" name="Text 43"/>
          <p:cNvSpPr txBox="1"/>
          <p:nvPr/>
        </p:nvSpPr>
        <p:spPr>
          <a:xfrm>
            <a:off x="7909560" y="1600200"/>
            <a:ext cx="315468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Website Booking Agent</a:t>
            </a:r>
            <a:endParaRPr dirty="0" sz="1300" lang="en-US"/>
          </a:p>
        </p:txBody>
      </p:sp>
      <p:sp>
        <p:nvSpPr>
          <p:cNvPr id="1048884" name="Shape 44"/>
          <p:cNvSpPr/>
          <p:nvPr/>
        </p:nvSpPr>
        <p:spPr>
          <a:xfrm>
            <a:off x="7909560" y="2441448"/>
            <a:ext cx="256032" cy="256032"/>
          </a:xfrm>
          <a:prstGeom prst="ellipse"/>
          <a:solidFill>
            <a:srgbClr val="00695C"/>
          </a:solidFill>
        </p:spPr>
      </p:sp>
      <p:sp>
        <p:nvSpPr>
          <p:cNvPr id="1048885" name="Text 45"/>
          <p:cNvSpPr txBox="1"/>
          <p:nvPr/>
        </p:nvSpPr>
        <p:spPr>
          <a:xfrm>
            <a:off x="7909560" y="2441448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dirty="0" sz="900" lang="en-US"/>
          </a:p>
        </p:txBody>
      </p:sp>
      <p:sp>
        <p:nvSpPr>
          <p:cNvPr id="1048886" name="Text 46"/>
          <p:cNvSpPr txBox="1"/>
          <p:nvPr/>
        </p:nvSpPr>
        <p:spPr>
          <a:xfrm>
            <a:off x="8275320" y="2194560"/>
            <a:ext cx="2788920" cy="749808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Clicks “Book Appointment”</a:t>
            </a:r>
            <a:endParaRPr dirty="0" sz="1000" lang="en-US"/>
          </a:p>
        </p:txBody>
      </p:sp>
      <p:sp>
        <p:nvSpPr>
          <p:cNvPr id="1048887" name="Shape 47"/>
          <p:cNvSpPr/>
          <p:nvPr/>
        </p:nvSpPr>
        <p:spPr>
          <a:xfrm>
            <a:off x="7909560" y="3191256"/>
            <a:ext cx="256032" cy="256032"/>
          </a:xfrm>
          <a:prstGeom prst="ellipse"/>
          <a:solidFill>
            <a:srgbClr val="00695C"/>
          </a:solidFill>
        </p:spPr>
      </p:sp>
      <p:sp>
        <p:nvSpPr>
          <p:cNvPr id="1048888" name="Text 48"/>
          <p:cNvSpPr txBox="1"/>
          <p:nvPr/>
        </p:nvSpPr>
        <p:spPr>
          <a:xfrm>
            <a:off x="7909560" y="3191256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dirty="0" sz="900" lang="en-US"/>
          </a:p>
        </p:txBody>
      </p:sp>
      <p:sp>
        <p:nvSpPr>
          <p:cNvPr id="1048889" name="Text 49"/>
          <p:cNvSpPr txBox="1"/>
          <p:nvPr/>
        </p:nvSpPr>
        <p:spPr>
          <a:xfrm>
            <a:off x="8275320" y="2944368"/>
            <a:ext cx="2788920" cy="749808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Vapi AI Agent Triggered</a:t>
            </a:r>
            <a:endParaRPr dirty="0" sz="1000" lang="en-US"/>
          </a:p>
        </p:txBody>
      </p:sp>
      <p:sp>
        <p:nvSpPr>
          <p:cNvPr id="1048890" name="Shape 50"/>
          <p:cNvSpPr/>
          <p:nvPr/>
        </p:nvSpPr>
        <p:spPr>
          <a:xfrm>
            <a:off x="7909560" y="3941064"/>
            <a:ext cx="256032" cy="256032"/>
          </a:xfrm>
          <a:prstGeom prst="ellipse"/>
          <a:solidFill>
            <a:srgbClr val="00695C"/>
          </a:solidFill>
        </p:spPr>
      </p:sp>
      <p:sp>
        <p:nvSpPr>
          <p:cNvPr id="1048891" name="Text 51"/>
          <p:cNvSpPr txBox="1"/>
          <p:nvPr/>
        </p:nvSpPr>
        <p:spPr>
          <a:xfrm>
            <a:off x="7909560" y="3941064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dirty="0" sz="900" lang="en-US"/>
          </a:p>
        </p:txBody>
      </p:sp>
      <p:sp>
        <p:nvSpPr>
          <p:cNvPr id="1048892" name="Text 52"/>
          <p:cNvSpPr txBox="1"/>
          <p:nvPr/>
        </p:nvSpPr>
        <p:spPr>
          <a:xfrm>
            <a:off x="8275320" y="3694176"/>
            <a:ext cx="2788920" cy="749808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 Info via Voice</a:t>
            </a:r>
            <a:endParaRPr dirty="0" sz="1000" lang="en-US"/>
          </a:p>
        </p:txBody>
      </p:sp>
      <p:sp>
        <p:nvSpPr>
          <p:cNvPr id="1048893" name="Shape 53"/>
          <p:cNvSpPr/>
          <p:nvPr/>
        </p:nvSpPr>
        <p:spPr>
          <a:xfrm>
            <a:off x="7909560" y="4690872"/>
            <a:ext cx="256032" cy="256032"/>
          </a:xfrm>
          <a:prstGeom prst="ellipse"/>
          <a:solidFill>
            <a:srgbClr val="00695C"/>
          </a:solidFill>
        </p:spPr>
      </p:sp>
      <p:sp>
        <p:nvSpPr>
          <p:cNvPr id="1048894" name="Text 54"/>
          <p:cNvSpPr txBox="1"/>
          <p:nvPr/>
        </p:nvSpPr>
        <p:spPr>
          <a:xfrm>
            <a:off x="7909560" y="4690872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dirty="0" sz="900" lang="en-US"/>
          </a:p>
        </p:txBody>
      </p:sp>
      <p:sp>
        <p:nvSpPr>
          <p:cNvPr id="1048895" name="Text 55"/>
          <p:cNvSpPr txBox="1"/>
          <p:nvPr/>
        </p:nvSpPr>
        <p:spPr>
          <a:xfrm>
            <a:off x="8275320" y="4443984"/>
            <a:ext cx="2788920" cy="749808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 &amp; Connect to Scheduling</a:t>
            </a:r>
            <a:endParaRPr dirty="0" sz="1000" lang="en-US"/>
          </a:p>
        </p:txBody>
      </p:sp>
      <p:sp>
        <p:nvSpPr>
          <p:cNvPr id="1048896" name="Shape 56"/>
          <p:cNvSpPr/>
          <p:nvPr/>
        </p:nvSpPr>
        <p:spPr>
          <a:xfrm>
            <a:off x="7909560" y="5440680"/>
            <a:ext cx="256032" cy="256032"/>
          </a:xfrm>
          <a:prstGeom prst="ellipse"/>
          <a:solidFill>
            <a:srgbClr val="00695C"/>
          </a:solidFill>
        </p:spPr>
      </p:sp>
      <p:sp>
        <p:nvSpPr>
          <p:cNvPr id="1048897" name="Text 57"/>
          <p:cNvSpPr txBox="1"/>
          <p:nvPr/>
        </p:nvSpPr>
        <p:spPr>
          <a:xfrm>
            <a:off x="7909560" y="5440680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dirty="0" sz="900" lang="en-US"/>
          </a:p>
        </p:txBody>
      </p:sp>
      <p:sp>
        <p:nvSpPr>
          <p:cNvPr id="1048898" name="Text 58"/>
          <p:cNvSpPr txBox="1"/>
          <p:nvPr/>
        </p:nvSpPr>
        <p:spPr>
          <a:xfrm>
            <a:off x="8275320" y="5193792"/>
            <a:ext cx="2788920" cy="749808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Confirm to User</a:t>
            </a:r>
            <a:endParaRPr dirty="0" sz="1000" lang="en-US"/>
          </a:p>
        </p:txBody>
      </p:sp>
      <p:sp>
        <p:nvSpPr>
          <p:cNvPr id="1048899" name="Text 59"/>
          <p:cNvSpPr/>
          <p:nvPr/>
        </p:nvSpPr>
        <p:spPr>
          <a:xfrm>
            <a:off x="11640312" y="6473952"/>
            <a:ext cx="36576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9AA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dirty="0" sz="1000"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3" name="Text 0"/>
          <p:cNvSpPr txBox="1"/>
          <p:nvPr/>
        </p:nvSpPr>
        <p:spPr>
          <a:xfrm>
            <a:off x="548640" y="320040"/>
            <a:ext cx="73152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05 · PROJECTS 7–9</a:t>
            </a:r>
            <a:endParaRPr dirty="0" sz="1100" lang="en-US"/>
          </a:p>
        </p:txBody>
      </p:sp>
      <p:sp>
        <p:nvSpPr>
          <p:cNvPr id="1048904" name="Text 1"/>
          <p:cNvSpPr txBox="1"/>
          <p:nvPr/>
        </p:nvSpPr>
        <p:spPr>
          <a:xfrm>
            <a:off x="548640" y="594360"/>
            <a:ext cx="105156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000" lang="en-US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Architecture: Calling, Testing &amp; Financial Agent</a:t>
            </a:r>
            <a:endParaRPr dirty="0" sz="3000" lang="en-US"/>
          </a:p>
        </p:txBody>
      </p:sp>
      <p:sp>
        <p:nvSpPr>
          <p:cNvPr id="1048905" name="Shape 2"/>
          <p:cNvSpPr/>
          <p:nvPr/>
        </p:nvSpPr>
        <p:spPr>
          <a:xfrm>
            <a:off x="548640" y="1600200"/>
            <a:ext cx="3429000" cy="4480560"/>
          </a:xfrm>
          <a:prstGeom prst="roundRect">
            <a:avLst>
              <a:gd name="adj" fmla="val 1867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8906" name="Shape 3"/>
          <p:cNvSpPr/>
          <p:nvPr/>
        </p:nvSpPr>
        <p:spPr>
          <a:xfrm>
            <a:off x="548640" y="1600200"/>
            <a:ext cx="3429000" cy="457200"/>
          </a:xfrm>
          <a:prstGeom prst="rect"/>
          <a:solidFill>
            <a:srgbClr val="AD1457"/>
          </a:solidFill>
        </p:spPr>
      </p:sp>
      <p:sp>
        <p:nvSpPr>
          <p:cNvPr id="1048907" name="Text 4"/>
          <p:cNvSpPr txBox="1"/>
          <p:nvPr/>
        </p:nvSpPr>
        <p:spPr>
          <a:xfrm>
            <a:off x="685800" y="1600200"/>
            <a:ext cx="315468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 Inbound &amp; Outbound Calling</a:t>
            </a:r>
            <a:endParaRPr dirty="0" sz="1300" lang="en-US"/>
          </a:p>
        </p:txBody>
      </p:sp>
      <p:sp>
        <p:nvSpPr>
          <p:cNvPr id="1048908" name="Shape 5"/>
          <p:cNvSpPr/>
          <p:nvPr/>
        </p:nvSpPr>
        <p:spPr>
          <a:xfrm>
            <a:off x="685800" y="2535174"/>
            <a:ext cx="256032" cy="256032"/>
          </a:xfrm>
          <a:prstGeom prst="ellipse"/>
          <a:solidFill>
            <a:srgbClr val="AD1457"/>
          </a:solidFill>
        </p:spPr>
      </p:sp>
      <p:sp>
        <p:nvSpPr>
          <p:cNvPr id="1048909" name="Text 6"/>
          <p:cNvSpPr txBox="1"/>
          <p:nvPr/>
        </p:nvSpPr>
        <p:spPr>
          <a:xfrm>
            <a:off x="685800" y="2535174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dirty="0" sz="900" lang="en-US"/>
          </a:p>
        </p:txBody>
      </p:sp>
      <p:sp>
        <p:nvSpPr>
          <p:cNvPr id="1048910" name="Text 7"/>
          <p:cNvSpPr txBox="1"/>
          <p:nvPr/>
        </p:nvSpPr>
        <p:spPr>
          <a:xfrm>
            <a:off x="1051560" y="2194560"/>
            <a:ext cx="2788920" cy="93726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Inbound: Receive Call → Understand Query → Respond</a:t>
            </a:r>
            <a:endParaRPr dirty="0" sz="1000" lang="en-US"/>
          </a:p>
        </p:txBody>
      </p:sp>
      <p:sp>
        <p:nvSpPr>
          <p:cNvPr id="1048911" name="Shape 8"/>
          <p:cNvSpPr/>
          <p:nvPr/>
        </p:nvSpPr>
        <p:spPr>
          <a:xfrm>
            <a:off x="685800" y="3472434"/>
            <a:ext cx="256032" cy="256032"/>
          </a:xfrm>
          <a:prstGeom prst="ellipse"/>
          <a:solidFill>
            <a:srgbClr val="AD1457"/>
          </a:solidFill>
        </p:spPr>
      </p:sp>
      <p:sp>
        <p:nvSpPr>
          <p:cNvPr id="1048912" name="Text 9"/>
          <p:cNvSpPr txBox="1"/>
          <p:nvPr/>
        </p:nvSpPr>
        <p:spPr>
          <a:xfrm>
            <a:off x="685800" y="3472434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dirty="0" sz="900" lang="en-US"/>
          </a:p>
        </p:txBody>
      </p:sp>
      <p:sp>
        <p:nvSpPr>
          <p:cNvPr id="1048913" name="Text 10"/>
          <p:cNvSpPr txBox="1"/>
          <p:nvPr/>
        </p:nvSpPr>
        <p:spPr>
          <a:xfrm>
            <a:off x="1051560" y="3131820"/>
            <a:ext cx="2788920" cy="93726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Outbound: Retrieve DB Info → Initiate Call → Personalize</a:t>
            </a:r>
            <a:endParaRPr dirty="0" sz="1000" lang="en-US"/>
          </a:p>
        </p:txBody>
      </p:sp>
      <p:sp>
        <p:nvSpPr>
          <p:cNvPr id="1048914" name="Shape 11"/>
          <p:cNvSpPr/>
          <p:nvPr/>
        </p:nvSpPr>
        <p:spPr>
          <a:xfrm>
            <a:off x="685800" y="4409694"/>
            <a:ext cx="256032" cy="256032"/>
          </a:xfrm>
          <a:prstGeom prst="ellipse"/>
          <a:solidFill>
            <a:srgbClr val="AD1457"/>
          </a:solidFill>
        </p:spPr>
      </p:sp>
      <p:sp>
        <p:nvSpPr>
          <p:cNvPr id="1048915" name="Text 12"/>
          <p:cNvSpPr txBox="1"/>
          <p:nvPr/>
        </p:nvSpPr>
        <p:spPr>
          <a:xfrm>
            <a:off x="685800" y="4409694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dirty="0" sz="900" lang="en-US"/>
          </a:p>
        </p:txBody>
      </p:sp>
      <p:sp>
        <p:nvSpPr>
          <p:cNvPr id="1048916" name="Text 13"/>
          <p:cNvSpPr txBox="1"/>
          <p:nvPr/>
        </p:nvSpPr>
        <p:spPr>
          <a:xfrm>
            <a:off x="1051560" y="4069080"/>
            <a:ext cx="2788920" cy="93726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Call Data</a:t>
            </a:r>
            <a:endParaRPr dirty="0" sz="1000" lang="en-US"/>
          </a:p>
        </p:txBody>
      </p:sp>
      <p:sp>
        <p:nvSpPr>
          <p:cNvPr id="1048917" name="Shape 14"/>
          <p:cNvSpPr/>
          <p:nvPr/>
        </p:nvSpPr>
        <p:spPr>
          <a:xfrm>
            <a:off x="685800" y="5346954"/>
            <a:ext cx="256032" cy="256032"/>
          </a:xfrm>
          <a:prstGeom prst="ellipse"/>
          <a:solidFill>
            <a:srgbClr val="AD1457"/>
          </a:solidFill>
        </p:spPr>
      </p:sp>
      <p:sp>
        <p:nvSpPr>
          <p:cNvPr id="1048918" name="Text 15"/>
          <p:cNvSpPr txBox="1"/>
          <p:nvPr/>
        </p:nvSpPr>
        <p:spPr>
          <a:xfrm>
            <a:off x="685800" y="5346954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dirty="0" sz="900" lang="en-US"/>
          </a:p>
        </p:txBody>
      </p:sp>
      <p:sp>
        <p:nvSpPr>
          <p:cNvPr id="1048919" name="Text 16"/>
          <p:cNvSpPr txBox="1"/>
          <p:nvPr/>
        </p:nvSpPr>
        <p:spPr>
          <a:xfrm>
            <a:off x="1051560" y="5006340"/>
            <a:ext cx="2788920" cy="93726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 with DB/Workflow</a:t>
            </a:r>
            <a:endParaRPr dirty="0" sz="1000" lang="en-US"/>
          </a:p>
        </p:txBody>
      </p:sp>
      <p:sp>
        <p:nvSpPr>
          <p:cNvPr id="1048920" name="Shape 17"/>
          <p:cNvSpPr/>
          <p:nvPr/>
        </p:nvSpPr>
        <p:spPr>
          <a:xfrm>
            <a:off x="4160520" y="1600200"/>
            <a:ext cx="3429000" cy="4480560"/>
          </a:xfrm>
          <a:prstGeom prst="roundRect">
            <a:avLst>
              <a:gd name="adj" fmla="val 1867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8921" name="Shape 18"/>
          <p:cNvSpPr/>
          <p:nvPr/>
        </p:nvSpPr>
        <p:spPr>
          <a:xfrm>
            <a:off x="4160520" y="1600200"/>
            <a:ext cx="3429000" cy="457200"/>
          </a:xfrm>
          <a:prstGeom prst="rect"/>
          <a:solidFill>
            <a:srgbClr val="EF6C00"/>
          </a:solidFill>
        </p:spPr>
      </p:sp>
      <p:sp>
        <p:nvSpPr>
          <p:cNvPr id="1048922" name="Text 19"/>
          <p:cNvSpPr txBox="1"/>
          <p:nvPr/>
        </p:nvSpPr>
        <p:spPr>
          <a:xfrm>
            <a:off x="4297680" y="1600200"/>
            <a:ext cx="315468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 A/B Testing Automation</a:t>
            </a:r>
            <a:endParaRPr dirty="0" sz="1300" lang="en-US"/>
          </a:p>
        </p:txBody>
      </p:sp>
      <p:sp>
        <p:nvSpPr>
          <p:cNvPr id="1048923" name="Shape 20"/>
          <p:cNvSpPr/>
          <p:nvPr/>
        </p:nvSpPr>
        <p:spPr>
          <a:xfrm>
            <a:off x="4297680" y="2441448"/>
            <a:ext cx="256032" cy="256032"/>
          </a:xfrm>
          <a:prstGeom prst="ellipse"/>
          <a:solidFill>
            <a:srgbClr val="EF6C00"/>
          </a:solidFill>
        </p:spPr>
      </p:sp>
      <p:sp>
        <p:nvSpPr>
          <p:cNvPr id="1048924" name="Text 21"/>
          <p:cNvSpPr txBox="1"/>
          <p:nvPr/>
        </p:nvSpPr>
        <p:spPr>
          <a:xfrm>
            <a:off x="4297680" y="2441448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dirty="0" sz="900" lang="en-US"/>
          </a:p>
        </p:txBody>
      </p:sp>
      <p:sp>
        <p:nvSpPr>
          <p:cNvPr id="1048925" name="Text 22"/>
          <p:cNvSpPr txBox="1"/>
          <p:nvPr/>
        </p:nvSpPr>
        <p:spPr>
          <a:xfrm>
            <a:off x="4663440" y="2194560"/>
            <a:ext cx="2788920" cy="749808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Variations (A/B)</a:t>
            </a:r>
            <a:endParaRPr dirty="0" sz="1000" lang="en-US"/>
          </a:p>
        </p:txBody>
      </p:sp>
      <p:sp>
        <p:nvSpPr>
          <p:cNvPr id="1048926" name="Shape 23"/>
          <p:cNvSpPr/>
          <p:nvPr/>
        </p:nvSpPr>
        <p:spPr>
          <a:xfrm>
            <a:off x="4297680" y="3191256"/>
            <a:ext cx="256032" cy="256032"/>
          </a:xfrm>
          <a:prstGeom prst="ellipse"/>
          <a:solidFill>
            <a:srgbClr val="EF6C00"/>
          </a:solidFill>
        </p:spPr>
      </p:sp>
      <p:sp>
        <p:nvSpPr>
          <p:cNvPr id="1048927" name="Text 24"/>
          <p:cNvSpPr txBox="1"/>
          <p:nvPr/>
        </p:nvSpPr>
        <p:spPr>
          <a:xfrm>
            <a:off x="4297680" y="3191256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dirty="0" sz="900" lang="en-US"/>
          </a:p>
        </p:txBody>
      </p:sp>
      <p:sp>
        <p:nvSpPr>
          <p:cNvPr id="1048928" name="Text 25"/>
          <p:cNvSpPr txBox="1"/>
          <p:nvPr/>
        </p:nvSpPr>
        <p:spPr>
          <a:xfrm>
            <a:off x="4663440" y="2944368"/>
            <a:ext cx="2788920" cy="749808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Distribute via Workflow</a:t>
            </a:r>
            <a:endParaRPr dirty="0" sz="1000" lang="en-US"/>
          </a:p>
        </p:txBody>
      </p:sp>
      <p:sp>
        <p:nvSpPr>
          <p:cNvPr id="1048929" name="Shape 26"/>
          <p:cNvSpPr/>
          <p:nvPr/>
        </p:nvSpPr>
        <p:spPr>
          <a:xfrm>
            <a:off x="4297680" y="3941064"/>
            <a:ext cx="256032" cy="256032"/>
          </a:xfrm>
          <a:prstGeom prst="ellipse"/>
          <a:solidFill>
            <a:srgbClr val="EF6C00"/>
          </a:solidFill>
        </p:spPr>
      </p:sp>
      <p:sp>
        <p:nvSpPr>
          <p:cNvPr id="1048930" name="Text 27"/>
          <p:cNvSpPr txBox="1"/>
          <p:nvPr/>
        </p:nvSpPr>
        <p:spPr>
          <a:xfrm>
            <a:off x="4297680" y="3941064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dirty="0" sz="900" lang="en-US"/>
          </a:p>
        </p:txBody>
      </p:sp>
      <p:sp>
        <p:nvSpPr>
          <p:cNvPr id="1048931" name="Text 28"/>
          <p:cNvSpPr txBox="1"/>
          <p:nvPr/>
        </p:nvSpPr>
        <p:spPr>
          <a:xfrm>
            <a:off x="4663440" y="3694176"/>
            <a:ext cx="2788920" cy="749808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 Metrics</a:t>
            </a:r>
            <a:endParaRPr dirty="0" sz="1000" lang="en-US"/>
          </a:p>
        </p:txBody>
      </p:sp>
      <p:sp>
        <p:nvSpPr>
          <p:cNvPr id="1048932" name="Shape 29"/>
          <p:cNvSpPr/>
          <p:nvPr/>
        </p:nvSpPr>
        <p:spPr>
          <a:xfrm>
            <a:off x="4297680" y="4690872"/>
            <a:ext cx="256032" cy="256032"/>
          </a:xfrm>
          <a:prstGeom prst="ellipse"/>
          <a:solidFill>
            <a:srgbClr val="EF6C00"/>
          </a:solidFill>
        </p:spPr>
      </p:sp>
      <p:sp>
        <p:nvSpPr>
          <p:cNvPr id="1048933" name="Text 30"/>
          <p:cNvSpPr txBox="1"/>
          <p:nvPr/>
        </p:nvSpPr>
        <p:spPr>
          <a:xfrm>
            <a:off x="4297680" y="4690872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dirty="0" sz="900" lang="en-US"/>
          </a:p>
        </p:txBody>
      </p:sp>
      <p:sp>
        <p:nvSpPr>
          <p:cNvPr id="1048934" name="Text 31"/>
          <p:cNvSpPr txBox="1"/>
          <p:nvPr/>
        </p:nvSpPr>
        <p:spPr>
          <a:xfrm>
            <a:off x="4663440" y="4443984"/>
            <a:ext cx="2788920" cy="749808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Analyze &amp; Compare</a:t>
            </a:r>
            <a:endParaRPr dirty="0" sz="1000" lang="en-US"/>
          </a:p>
        </p:txBody>
      </p:sp>
      <p:sp>
        <p:nvSpPr>
          <p:cNvPr id="1048935" name="Shape 32"/>
          <p:cNvSpPr/>
          <p:nvPr/>
        </p:nvSpPr>
        <p:spPr>
          <a:xfrm>
            <a:off x="4297680" y="5440680"/>
            <a:ext cx="256032" cy="256032"/>
          </a:xfrm>
          <a:prstGeom prst="ellipse"/>
          <a:solidFill>
            <a:srgbClr val="EF6C00"/>
          </a:solidFill>
        </p:spPr>
      </p:sp>
      <p:sp>
        <p:nvSpPr>
          <p:cNvPr id="1048936" name="Text 33"/>
          <p:cNvSpPr txBox="1"/>
          <p:nvPr/>
        </p:nvSpPr>
        <p:spPr>
          <a:xfrm>
            <a:off x="4297680" y="5440680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dirty="0" sz="900" lang="en-US"/>
          </a:p>
        </p:txBody>
      </p:sp>
      <p:sp>
        <p:nvSpPr>
          <p:cNvPr id="1048937" name="Text 34"/>
          <p:cNvSpPr txBox="1"/>
          <p:nvPr/>
        </p:nvSpPr>
        <p:spPr>
          <a:xfrm>
            <a:off x="4663440" y="5193792"/>
            <a:ext cx="2788920" cy="749808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Adopt Better Variation</a:t>
            </a:r>
            <a:endParaRPr dirty="0" sz="1000" lang="en-US"/>
          </a:p>
        </p:txBody>
      </p:sp>
      <p:sp>
        <p:nvSpPr>
          <p:cNvPr id="1048938" name="Shape 35"/>
          <p:cNvSpPr/>
          <p:nvPr/>
        </p:nvSpPr>
        <p:spPr>
          <a:xfrm>
            <a:off x="7772400" y="1600200"/>
            <a:ext cx="3429000" cy="4480560"/>
          </a:xfrm>
          <a:prstGeom prst="roundRect">
            <a:avLst>
              <a:gd name="adj" fmla="val 1867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8939" name="Shape 36"/>
          <p:cNvSpPr/>
          <p:nvPr/>
        </p:nvSpPr>
        <p:spPr>
          <a:xfrm>
            <a:off x="7772400" y="1600200"/>
            <a:ext cx="3429000" cy="457200"/>
          </a:xfrm>
          <a:prstGeom prst="rect"/>
          <a:solidFill>
            <a:srgbClr val="0B5394"/>
          </a:solidFill>
        </p:spPr>
      </p:sp>
      <p:sp>
        <p:nvSpPr>
          <p:cNvPr id="1048940" name="Text 37"/>
          <p:cNvSpPr txBox="1"/>
          <p:nvPr/>
        </p:nvSpPr>
        <p:spPr>
          <a:xfrm>
            <a:off x="7909560" y="1600200"/>
            <a:ext cx="315468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 US Market Financial Agent</a:t>
            </a:r>
            <a:endParaRPr dirty="0" sz="1300" lang="en-US"/>
          </a:p>
        </p:txBody>
      </p:sp>
      <p:sp>
        <p:nvSpPr>
          <p:cNvPr id="1048941" name="Shape 38"/>
          <p:cNvSpPr/>
          <p:nvPr/>
        </p:nvSpPr>
        <p:spPr>
          <a:xfrm>
            <a:off x="7909560" y="2441448"/>
            <a:ext cx="256032" cy="256032"/>
          </a:xfrm>
          <a:prstGeom prst="ellipse"/>
          <a:solidFill>
            <a:srgbClr val="0B5394"/>
          </a:solidFill>
        </p:spPr>
      </p:sp>
      <p:sp>
        <p:nvSpPr>
          <p:cNvPr id="1048942" name="Text 39"/>
          <p:cNvSpPr txBox="1"/>
          <p:nvPr/>
        </p:nvSpPr>
        <p:spPr>
          <a:xfrm>
            <a:off x="7909560" y="2441448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dirty="0" sz="900" lang="en-US"/>
          </a:p>
        </p:txBody>
      </p:sp>
      <p:sp>
        <p:nvSpPr>
          <p:cNvPr id="1048943" name="Text 40"/>
          <p:cNvSpPr txBox="1"/>
          <p:nvPr/>
        </p:nvSpPr>
        <p:spPr>
          <a:xfrm>
            <a:off x="8275320" y="2194560"/>
            <a:ext cx="2788920" cy="749808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Retrieve Financial Data (APIs)</a:t>
            </a:r>
            <a:endParaRPr dirty="0" sz="1000" lang="en-US"/>
          </a:p>
        </p:txBody>
      </p:sp>
      <p:sp>
        <p:nvSpPr>
          <p:cNvPr id="1048944" name="Shape 41"/>
          <p:cNvSpPr/>
          <p:nvPr/>
        </p:nvSpPr>
        <p:spPr>
          <a:xfrm>
            <a:off x="7909560" y="3191256"/>
            <a:ext cx="256032" cy="256032"/>
          </a:xfrm>
          <a:prstGeom prst="ellipse"/>
          <a:solidFill>
            <a:srgbClr val="0B5394"/>
          </a:solidFill>
        </p:spPr>
      </p:sp>
      <p:sp>
        <p:nvSpPr>
          <p:cNvPr id="1048945" name="Text 42"/>
          <p:cNvSpPr txBox="1"/>
          <p:nvPr/>
        </p:nvSpPr>
        <p:spPr>
          <a:xfrm>
            <a:off x="7909560" y="3191256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dirty="0" sz="900" lang="en-US"/>
          </a:p>
        </p:txBody>
      </p:sp>
      <p:sp>
        <p:nvSpPr>
          <p:cNvPr id="1048946" name="Text 43"/>
          <p:cNvSpPr txBox="1"/>
          <p:nvPr/>
        </p:nvSpPr>
        <p:spPr>
          <a:xfrm>
            <a:off x="8275320" y="2944368"/>
            <a:ext cx="2788920" cy="749808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Analysis (LLMs)</a:t>
            </a:r>
            <a:endParaRPr dirty="0" sz="1000" lang="en-US"/>
          </a:p>
        </p:txBody>
      </p:sp>
      <p:sp>
        <p:nvSpPr>
          <p:cNvPr id="1048947" name="Shape 44"/>
          <p:cNvSpPr/>
          <p:nvPr/>
        </p:nvSpPr>
        <p:spPr>
          <a:xfrm>
            <a:off x="7909560" y="3941064"/>
            <a:ext cx="256032" cy="256032"/>
          </a:xfrm>
          <a:prstGeom prst="ellipse"/>
          <a:solidFill>
            <a:srgbClr val="0B5394"/>
          </a:solidFill>
        </p:spPr>
      </p:sp>
      <p:sp>
        <p:nvSpPr>
          <p:cNvPr id="1048948" name="Text 45"/>
          <p:cNvSpPr txBox="1"/>
          <p:nvPr/>
        </p:nvSpPr>
        <p:spPr>
          <a:xfrm>
            <a:off x="7909560" y="3941064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dirty="0" sz="900" lang="en-US"/>
          </a:p>
        </p:txBody>
      </p:sp>
      <p:sp>
        <p:nvSpPr>
          <p:cNvPr id="1048949" name="Text 46"/>
          <p:cNvSpPr txBox="1"/>
          <p:nvPr/>
        </p:nvSpPr>
        <p:spPr>
          <a:xfrm>
            <a:off x="8275320" y="3694176"/>
            <a:ext cx="2788920" cy="749808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LangChain/LangGraph/CrewAI/RAG</a:t>
            </a:r>
            <a:endParaRPr dirty="0" sz="1000" lang="en-US"/>
          </a:p>
        </p:txBody>
      </p:sp>
      <p:sp>
        <p:nvSpPr>
          <p:cNvPr id="1048950" name="Shape 47"/>
          <p:cNvSpPr/>
          <p:nvPr/>
        </p:nvSpPr>
        <p:spPr>
          <a:xfrm>
            <a:off x="7909560" y="4690872"/>
            <a:ext cx="256032" cy="256032"/>
          </a:xfrm>
          <a:prstGeom prst="ellipse"/>
          <a:solidFill>
            <a:srgbClr val="0B5394"/>
          </a:solidFill>
        </p:spPr>
      </p:sp>
      <p:sp>
        <p:nvSpPr>
          <p:cNvPr id="1048951" name="Text 48"/>
          <p:cNvSpPr txBox="1"/>
          <p:nvPr/>
        </p:nvSpPr>
        <p:spPr>
          <a:xfrm>
            <a:off x="7909560" y="4690872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dirty="0" sz="900" lang="en-US"/>
          </a:p>
        </p:txBody>
      </p:sp>
      <p:sp>
        <p:nvSpPr>
          <p:cNvPr id="1048952" name="Text 49"/>
          <p:cNvSpPr txBox="1"/>
          <p:nvPr/>
        </p:nvSpPr>
        <p:spPr>
          <a:xfrm>
            <a:off x="8275320" y="4443984"/>
            <a:ext cx="2788920" cy="749808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 Insights</a:t>
            </a:r>
            <a:endParaRPr dirty="0" sz="1000" lang="en-US"/>
          </a:p>
        </p:txBody>
      </p:sp>
      <p:sp>
        <p:nvSpPr>
          <p:cNvPr id="1048953" name="Shape 50"/>
          <p:cNvSpPr/>
          <p:nvPr/>
        </p:nvSpPr>
        <p:spPr>
          <a:xfrm>
            <a:off x="7909560" y="5440680"/>
            <a:ext cx="256032" cy="256032"/>
          </a:xfrm>
          <a:prstGeom prst="ellipse"/>
          <a:solidFill>
            <a:srgbClr val="0B5394"/>
          </a:solidFill>
        </p:spPr>
      </p:sp>
      <p:sp>
        <p:nvSpPr>
          <p:cNvPr id="1048954" name="Text 51"/>
          <p:cNvSpPr txBox="1"/>
          <p:nvPr/>
        </p:nvSpPr>
        <p:spPr>
          <a:xfrm>
            <a:off x="7909560" y="5440680"/>
            <a:ext cx="256032" cy="256032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9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dirty="0" sz="900" lang="en-US"/>
          </a:p>
        </p:txBody>
      </p:sp>
      <p:sp>
        <p:nvSpPr>
          <p:cNvPr id="1048955" name="Text 52"/>
          <p:cNvSpPr txBox="1"/>
          <p:nvPr/>
        </p:nvSpPr>
        <p:spPr>
          <a:xfrm>
            <a:off x="8275320" y="5193792"/>
            <a:ext cx="2788920" cy="749808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00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 via LangSmith</a:t>
            </a:r>
            <a:endParaRPr dirty="0" sz="1000" lang="en-US"/>
          </a:p>
        </p:txBody>
      </p:sp>
      <p:sp>
        <p:nvSpPr>
          <p:cNvPr id="1048956" name="Text 53"/>
          <p:cNvSpPr/>
          <p:nvPr/>
        </p:nvSpPr>
        <p:spPr>
          <a:xfrm>
            <a:off x="11640312" y="6473952"/>
            <a:ext cx="36576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9AA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dirty="0" sz="1000"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0" name="Text 0"/>
          <p:cNvSpPr txBox="1"/>
          <p:nvPr/>
        </p:nvSpPr>
        <p:spPr>
          <a:xfrm>
            <a:off x="548640" y="320040"/>
            <a:ext cx="73152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06</a:t>
            </a:r>
            <a:endParaRPr dirty="0" sz="1100" lang="en-US"/>
          </a:p>
        </p:txBody>
      </p:sp>
      <p:sp>
        <p:nvSpPr>
          <p:cNvPr id="1048961" name="Text 1"/>
          <p:cNvSpPr txBox="1"/>
          <p:nvPr/>
        </p:nvSpPr>
        <p:spPr>
          <a:xfrm>
            <a:off x="548640" y="594360"/>
            <a:ext cx="105156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000" lang="en-US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Methodology</a:t>
            </a:r>
            <a:endParaRPr dirty="0" sz="3000" lang="en-US"/>
          </a:p>
        </p:txBody>
      </p:sp>
      <p:sp>
        <p:nvSpPr>
          <p:cNvPr id="1048962" name="Text 2"/>
          <p:cNvSpPr txBox="1"/>
          <p:nvPr/>
        </p:nvSpPr>
        <p:spPr>
          <a:xfrm>
            <a:off x="548640" y="1417320"/>
            <a:ext cx="10789920" cy="68580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0000"/>
              </a:lnSpc>
              <a:buNone/>
            </a:pPr>
            <a:r>
              <a:rPr dirty="0" sz="13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project followed a structured approach: data/trigger collection → AI processing → validation/enrichment → storage or delivery → workflow automation and monitoring.</a:t>
            </a:r>
            <a:endParaRPr dirty="0" sz="1300" lang="en-US"/>
          </a:p>
        </p:txBody>
      </p:sp>
      <p:sp>
        <p:nvSpPr>
          <p:cNvPr id="1048963" name="Text 3"/>
          <p:cNvSpPr txBox="1"/>
          <p:nvPr/>
        </p:nvSpPr>
        <p:spPr>
          <a:xfrm>
            <a:off x="548640" y="2286000"/>
            <a:ext cx="54864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00" kern="0" lang="en-US" spc="10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COMMON METHODOLOGY PATTERN</a:t>
            </a:r>
            <a:endParaRPr dirty="0" sz="1100" lang="en-US"/>
          </a:p>
        </p:txBody>
      </p:sp>
      <p:sp>
        <p:nvSpPr>
          <p:cNvPr id="1048964" name="Shape 4"/>
          <p:cNvSpPr/>
          <p:nvPr/>
        </p:nvSpPr>
        <p:spPr>
          <a:xfrm>
            <a:off x="548640" y="2651760"/>
            <a:ext cx="1993392" cy="3108960"/>
          </a:xfrm>
          <a:prstGeom prst="roundRect">
            <a:avLst>
              <a:gd name="adj" fmla="val 3211"/>
            </a:avLst>
          </a:prstGeom>
          <a:solidFill>
            <a:srgbClr val="1E2761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8965" name="Text 5"/>
          <p:cNvSpPr txBox="1"/>
          <p:nvPr/>
        </p:nvSpPr>
        <p:spPr>
          <a:xfrm>
            <a:off x="685800" y="2788920"/>
            <a:ext cx="1719072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600" lang="en-US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dirty="0" sz="2600" lang="en-US"/>
          </a:p>
        </p:txBody>
      </p:sp>
      <p:sp>
        <p:nvSpPr>
          <p:cNvPr id="1048966" name="Text 6"/>
          <p:cNvSpPr txBox="1"/>
          <p:nvPr/>
        </p:nvSpPr>
        <p:spPr>
          <a:xfrm>
            <a:off x="685800" y="3337560"/>
            <a:ext cx="1719072" cy="82296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0000"/>
              </a:lnSpc>
              <a:buNone/>
            </a:pPr>
            <a:r>
              <a:rPr b="1" dirty="0" sz="12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Collection / Trigger</a:t>
            </a:r>
            <a:endParaRPr dirty="0" sz="1200" lang="en-US"/>
          </a:p>
        </p:txBody>
      </p:sp>
      <p:sp>
        <p:nvSpPr>
          <p:cNvPr id="1048967" name="Text 7"/>
          <p:cNvSpPr txBox="1"/>
          <p:nvPr/>
        </p:nvSpPr>
        <p:spPr>
          <a:xfrm>
            <a:off x="685800" y="4251960"/>
            <a:ext cx="1719072" cy="137160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buNone/>
            </a:pPr>
            <a:r>
              <a:rPr dirty="0" sz="1000" lang="en-US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Inbound email, call, request, or market data</a:t>
            </a:r>
            <a:endParaRPr dirty="0" sz="1000" lang="en-US"/>
          </a:p>
        </p:txBody>
      </p:sp>
      <p:sp>
        <p:nvSpPr>
          <p:cNvPr id="1048968" name="Text 8"/>
          <p:cNvSpPr txBox="1"/>
          <p:nvPr/>
        </p:nvSpPr>
        <p:spPr>
          <a:xfrm>
            <a:off x="2523744" y="4023360"/>
            <a:ext cx="41148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dirty="0" sz="1600" lang="en-US"/>
          </a:p>
        </p:txBody>
      </p:sp>
      <p:sp>
        <p:nvSpPr>
          <p:cNvPr id="1048969" name="Shape 9"/>
          <p:cNvSpPr/>
          <p:nvPr/>
        </p:nvSpPr>
        <p:spPr>
          <a:xfrm>
            <a:off x="2679192" y="2651760"/>
            <a:ext cx="1993392" cy="3108960"/>
          </a:xfrm>
          <a:prstGeom prst="roundRect">
            <a:avLst>
              <a:gd name="adj" fmla="val 3211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8970" name="Text 10"/>
          <p:cNvSpPr txBox="1"/>
          <p:nvPr/>
        </p:nvSpPr>
        <p:spPr>
          <a:xfrm>
            <a:off x="2816352" y="2788920"/>
            <a:ext cx="1719072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600" lang="en-US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dirty="0" sz="2600" lang="en-US"/>
          </a:p>
        </p:txBody>
      </p:sp>
      <p:sp>
        <p:nvSpPr>
          <p:cNvPr id="1048971" name="Text 11"/>
          <p:cNvSpPr txBox="1"/>
          <p:nvPr/>
        </p:nvSpPr>
        <p:spPr>
          <a:xfrm>
            <a:off x="2816352" y="3337560"/>
            <a:ext cx="1719072" cy="82296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0000"/>
              </a:lnSpc>
              <a:buNone/>
            </a:pPr>
            <a:r>
              <a:rPr b="1" dirty="0" sz="1200" lang="en-US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AI/LLM Processing</a:t>
            </a:r>
            <a:endParaRPr dirty="0" sz="1200" lang="en-US"/>
          </a:p>
        </p:txBody>
      </p:sp>
      <p:sp>
        <p:nvSpPr>
          <p:cNvPr id="1048972" name="Text 12"/>
          <p:cNvSpPr txBox="1"/>
          <p:nvPr/>
        </p:nvSpPr>
        <p:spPr>
          <a:xfrm>
            <a:off x="2816352" y="4251960"/>
            <a:ext cx="1719072" cy="137160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Extraction, classification, response generation, or analysis</a:t>
            </a:r>
            <a:endParaRPr dirty="0" sz="1000" lang="en-US"/>
          </a:p>
        </p:txBody>
      </p:sp>
      <p:sp>
        <p:nvSpPr>
          <p:cNvPr id="1048973" name="Text 13"/>
          <p:cNvSpPr txBox="1"/>
          <p:nvPr/>
        </p:nvSpPr>
        <p:spPr>
          <a:xfrm>
            <a:off x="4654296" y="4023360"/>
            <a:ext cx="41148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dirty="0" sz="1600" lang="en-US"/>
          </a:p>
        </p:txBody>
      </p:sp>
      <p:sp>
        <p:nvSpPr>
          <p:cNvPr id="1048974" name="Shape 14"/>
          <p:cNvSpPr/>
          <p:nvPr/>
        </p:nvSpPr>
        <p:spPr>
          <a:xfrm>
            <a:off x="4809744" y="2651760"/>
            <a:ext cx="1993392" cy="3108960"/>
          </a:xfrm>
          <a:prstGeom prst="roundRect">
            <a:avLst>
              <a:gd name="adj" fmla="val 3211"/>
            </a:avLst>
          </a:prstGeom>
          <a:solidFill>
            <a:srgbClr val="1E2761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8975" name="Text 15"/>
          <p:cNvSpPr txBox="1"/>
          <p:nvPr/>
        </p:nvSpPr>
        <p:spPr>
          <a:xfrm>
            <a:off x="4946904" y="2788920"/>
            <a:ext cx="1719072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600" lang="en-US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dirty="0" sz="2600" lang="en-US"/>
          </a:p>
        </p:txBody>
      </p:sp>
      <p:sp>
        <p:nvSpPr>
          <p:cNvPr id="1048976" name="Text 16"/>
          <p:cNvSpPr txBox="1"/>
          <p:nvPr/>
        </p:nvSpPr>
        <p:spPr>
          <a:xfrm>
            <a:off x="4946904" y="3337560"/>
            <a:ext cx="1719072" cy="82296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0000"/>
              </a:lnSpc>
              <a:buNone/>
            </a:pPr>
            <a:r>
              <a:rPr b="1" dirty="0" sz="12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 &amp; Structuring</a:t>
            </a:r>
            <a:endParaRPr dirty="0" sz="1200" lang="en-US"/>
          </a:p>
        </p:txBody>
      </p:sp>
      <p:sp>
        <p:nvSpPr>
          <p:cNvPr id="1048977" name="Text 17"/>
          <p:cNvSpPr txBox="1"/>
          <p:nvPr/>
        </p:nvSpPr>
        <p:spPr>
          <a:xfrm>
            <a:off x="4946904" y="4251960"/>
            <a:ext cx="1719072" cy="137160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buNone/>
            </a:pPr>
            <a:r>
              <a:rPr dirty="0" sz="1000" lang="en-US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Cleaning, deduplication, contextual accuracy</a:t>
            </a:r>
            <a:endParaRPr dirty="0" sz="1000" lang="en-US"/>
          </a:p>
        </p:txBody>
      </p:sp>
      <p:sp>
        <p:nvSpPr>
          <p:cNvPr id="1048978" name="Text 18"/>
          <p:cNvSpPr txBox="1"/>
          <p:nvPr/>
        </p:nvSpPr>
        <p:spPr>
          <a:xfrm>
            <a:off x="6784848" y="4023360"/>
            <a:ext cx="41148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dirty="0" sz="1600" lang="en-US"/>
          </a:p>
        </p:txBody>
      </p:sp>
      <p:sp>
        <p:nvSpPr>
          <p:cNvPr id="1048979" name="Shape 19"/>
          <p:cNvSpPr/>
          <p:nvPr/>
        </p:nvSpPr>
        <p:spPr>
          <a:xfrm>
            <a:off x="6940296" y="2651760"/>
            <a:ext cx="1993392" cy="3108960"/>
          </a:xfrm>
          <a:prstGeom prst="roundRect">
            <a:avLst>
              <a:gd name="adj" fmla="val 3211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8980" name="Text 20"/>
          <p:cNvSpPr txBox="1"/>
          <p:nvPr/>
        </p:nvSpPr>
        <p:spPr>
          <a:xfrm>
            <a:off x="7077456" y="2788920"/>
            <a:ext cx="1719072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600" lang="en-US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dirty="0" sz="2600" lang="en-US"/>
          </a:p>
        </p:txBody>
      </p:sp>
      <p:sp>
        <p:nvSpPr>
          <p:cNvPr id="1048981" name="Text 21"/>
          <p:cNvSpPr txBox="1"/>
          <p:nvPr/>
        </p:nvSpPr>
        <p:spPr>
          <a:xfrm>
            <a:off x="7077456" y="3337560"/>
            <a:ext cx="1719072" cy="82296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0000"/>
              </a:lnSpc>
              <a:buNone/>
            </a:pPr>
            <a:r>
              <a:rPr b="1" dirty="0" sz="1200" lang="en-US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Automation &amp; Integration</a:t>
            </a:r>
            <a:endParaRPr dirty="0" sz="1200" lang="en-US"/>
          </a:p>
        </p:txBody>
      </p:sp>
      <p:sp>
        <p:nvSpPr>
          <p:cNvPr id="1048982" name="Text 22"/>
          <p:cNvSpPr txBox="1"/>
          <p:nvPr/>
        </p:nvSpPr>
        <p:spPr>
          <a:xfrm>
            <a:off x="7077456" y="4251960"/>
            <a:ext cx="1719072" cy="137160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buNone/>
            </a:pPr>
            <a:r>
              <a:rPr dirty="0" sz="100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Make/n8n, APIs, databases connect the pipeline</a:t>
            </a:r>
            <a:endParaRPr dirty="0" sz="1000" lang="en-US"/>
          </a:p>
        </p:txBody>
      </p:sp>
      <p:sp>
        <p:nvSpPr>
          <p:cNvPr id="1048983" name="Text 23"/>
          <p:cNvSpPr txBox="1"/>
          <p:nvPr/>
        </p:nvSpPr>
        <p:spPr>
          <a:xfrm>
            <a:off x="8915400" y="4023360"/>
            <a:ext cx="41148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600" lang="en-US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dirty="0" sz="1600" lang="en-US"/>
          </a:p>
        </p:txBody>
      </p:sp>
      <p:sp>
        <p:nvSpPr>
          <p:cNvPr id="1048984" name="Shape 24"/>
          <p:cNvSpPr/>
          <p:nvPr/>
        </p:nvSpPr>
        <p:spPr>
          <a:xfrm>
            <a:off x="9070848" y="2651760"/>
            <a:ext cx="1993392" cy="3108960"/>
          </a:xfrm>
          <a:prstGeom prst="roundRect">
            <a:avLst>
              <a:gd name="adj" fmla="val 3211"/>
            </a:avLst>
          </a:prstGeom>
          <a:solidFill>
            <a:srgbClr val="1E2761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8985" name="Text 25"/>
          <p:cNvSpPr txBox="1"/>
          <p:nvPr/>
        </p:nvSpPr>
        <p:spPr>
          <a:xfrm>
            <a:off x="9208008" y="2788920"/>
            <a:ext cx="1719072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600" lang="en-US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dirty="0" sz="2600" lang="en-US"/>
          </a:p>
        </p:txBody>
      </p:sp>
      <p:sp>
        <p:nvSpPr>
          <p:cNvPr id="1048986" name="Text 26"/>
          <p:cNvSpPr txBox="1"/>
          <p:nvPr/>
        </p:nvSpPr>
        <p:spPr>
          <a:xfrm>
            <a:off x="9208008" y="3337560"/>
            <a:ext cx="1719072" cy="82296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0000"/>
              </a:lnSpc>
              <a:buNone/>
            </a:pPr>
            <a:r>
              <a:rPr b="1" dirty="0" sz="12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Monitoring &amp; Optimization</a:t>
            </a:r>
            <a:endParaRPr dirty="0" sz="1200" lang="en-US"/>
          </a:p>
        </p:txBody>
      </p:sp>
      <p:sp>
        <p:nvSpPr>
          <p:cNvPr id="1048987" name="Text 27"/>
          <p:cNvSpPr txBox="1"/>
          <p:nvPr/>
        </p:nvSpPr>
        <p:spPr>
          <a:xfrm>
            <a:off x="9208008" y="4251960"/>
            <a:ext cx="1719072" cy="137160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buNone/>
            </a:pPr>
            <a:r>
              <a:rPr dirty="0" sz="1000" lang="en-US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Tracked via LangSmith / follow-up logic</a:t>
            </a:r>
            <a:endParaRPr dirty="0" sz="1000" lang="en-US"/>
          </a:p>
        </p:txBody>
      </p:sp>
      <p:sp>
        <p:nvSpPr>
          <p:cNvPr id="1048988" name="Text 28"/>
          <p:cNvSpPr/>
          <p:nvPr/>
        </p:nvSpPr>
        <p:spPr>
          <a:xfrm>
            <a:off x="11640312" y="6473952"/>
            <a:ext cx="36576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9AA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dirty="0" sz="1000"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2" name="Text 0"/>
          <p:cNvSpPr txBox="1"/>
          <p:nvPr/>
        </p:nvSpPr>
        <p:spPr>
          <a:xfrm>
            <a:off x="548640" y="320040"/>
            <a:ext cx="73152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06</a:t>
            </a:r>
            <a:endParaRPr dirty="0" sz="1100" lang="en-US"/>
          </a:p>
        </p:txBody>
      </p:sp>
      <p:sp>
        <p:nvSpPr>
          <p:cNvPr id="1048993" name="Text 1"/>
          <p:cNvSpPr txBox="1"/>
          <p:nvPr/>
        </p:nvSpPr>
        <p:spPr>
          <a:xfrm>
            <a:off x="548640" y="594360"/>
            <a:ext cx="105156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000" lang="en-US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Expected Outcomes</a:t>
            </a:r>
            <a:endParaRPr dirty="0" sz="3000" lang="en-US"/>
          </a:p>
        </p:txBody>
      </p:sp>
      <p:sp>
        <p:nvSpPr>
          <p:cNvPr id="1048994" name="Shape 2"/>
          <p:cNvSpPr/>
          <p:nvPr/>
        </p:nvSpPr>
        <p:spPr>
          <a:xfrm>
            <a:off x="548640" y="1508760"/>
            <a:ext cx="5120640" cy="822960"/>
          </a:xfrm>
          <a:prstGeom prst="roundRect">
            <a:avLst>
              <a:gd name="adj" fmla="val 7778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8995" name="Text 3"/>
          <p:cNvSpPr txBox="1"/>
          <p:nvPr/>
        </p:nvSpPr>
        <p:spPr>
          <a:xfrm>
            <a:off x="658368" y="1600200"/>
            <a:ext cx="50292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200" lang="en-US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dirty="0" sz="2200" lang="en-US"/>
          </a:p>
        </p:txBody>
      </p:sp>
      <p:sp>
        <p:nvSpPr>
          <p:cNvPr id="1048996" name="Text 4"/>
          <p:cNvSpPr txBox="1"/>
          <p:nvPr/>
        </p:nvSpPr>
        <p:spPr>
          <a:xfrm>
            <a:off x="1188720" y="1581912"/>
            <a:ext cx="4297680" cy="676656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Reduced manual effort in processing emails, leads, and scheduling</a:t>
            </a:r>
            <a:endParaRPr dirty="0" sz="1150" lang="en-US"/>
          </a:p>
        </p:txBody>
      </p:sp>
      <p:sp>
        <p:nvSpPr>
          <p:cNvPr id="1048997" name="Shape 5"/>
          <p:cNvSpPr/>
          <p:nvPr/>
        </p:nvSpPr>
        <p:spPr>
          <a:xfrm>
            <a:off x="5852160" y="1508760"/>
            <a:ext cx="5120640" cy="822960"/>
          </a:xfrm>
          <a:prstGeom prst="roundRect">
            <a:avLst>
              <a:gd name="adj" fmla="val 7778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8998" name="Text 6"/>
          <p:cNvSpPr txBox="1"/>
          <p:nvPr/>
        </p:nvSpPr>
        <p:spPr>
          <a:xfrm>
            <a:off x="5961888" y="1600200"/>
            <a:ext cx="50292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200" lang="en-US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dirty="0" sz="2200" lang="en-US"/>
          </a:p>
        </p:txBody>
      </p:sp>
      <p:sp>
        <p:nvSpPr>
          <p:cNvPr id="1048999" name="Text 7"/>
          <p:cNvSpPr txBox="1"/>
          <p:nvPr/>
        </p:nvSpPr>
        <p:spPr>
          <a:xfrm>
            <a:off x="6492240" y="1581912"/>
            <a:ext cx="4297680" cy="676656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Improved data accuracy through AI/LLM-based validation</a:t>
            </a:r>
            <a:endParaRPr dirty="0" sz="1150" lang="en-US"/>
          </a:p>
        </p:txBody>
      </p:sp>
      <p:sp>
        <p:nvSpPr>
          <p:cNvPr id="1049000" name="Shape 8"/>
          <p:cNvSpPr/>
          <p:nvPr/>
        </p:nvSpPr>
        <p:spPr>
          <a:xfrm>
            <a:off x="548640" y="2468880"/>
            <a:ext cx="5120640" cy="822960"/>
          </a:xfrm>
          <a:prstGeom prst="roundRect">
            <a:avLst>
              <a:gd name="adj" fmla="val 7778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9001" name="Text 9"/>
          <p:cNvSpPr txBox="1"/>
          <p:nvPr/>
        </p:nvSpPr>
        <p:spPr>
          <a:xfrm>
            <a:off x="658368" y="2560320"/>
            <a:ext cx="50292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200" lang="en-US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dirty="0" sz="2200" lang="en-US"/>
          </a:p>
        </p:txBody>
      </p:sp>
      <p:sp>
        <p:nvSpPr>
          <p:cNvPr id="1049002" name="Text 10"/>
          <p:cNvSpPr txBox="1"/>
          <p:nvPr/>
        </p:nvSpPr>
        <p:spPr>
          <a:xfrm>
            <a:off x="1188720" y="2542032"/>
            <a:ext cx="4297680" cy="676656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 lead-to-appointment conversion with automated outreach &amp; scheduling</a:t>
            </a:r>
            <a:endParaRPr dirty="0" sz="1150" lang="en-US"/>
          </a:p>
        </p:txBody>
      </p:sp>
      <p:sp>
        <p:nvSpPr>
          <p:cNvPr id="1049003" name="Shape 11"/>
          <p:cNvSpPr/>
          <p:nvPr/>
        </p:nvSpPr>
        <p:spPr>
          <a:xfrm>
            <a:off x="5852160" y="2468880"/>
            <a:ext cx="5120640" cy="822960"/>
          </a:xfrm>
          <a:prstGeom prst="roundRect">
            <a:avLst>
              <a:gd name="adj" fmla="val 7778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9004" name="Text 12"/>
          <p:cNvSpPr txBox="1"/>
          <p:nvPr/>
        </p:nvSpPr>
        <p:spPr>
          <a:xfrm>
            <a:off x="5961888" y="2560320"/>
            <a:ext cx="50292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200" lang="en-US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dirty="0" sz="2200" lang="en-US"/>
          </a:p>
        </p:txBody>
      </p:sp>
      <p:sp>
        <p:nvSpPr>
          <p:cNvPr id="1049005" name="Text 13"/>
          <p:cNvSpPr txBox="1"/>
          <p:nvPr/>
        </p:nvSpPr>
        <p:spPr>
          <a:xfrm>
            <a:off x="6492240" y="2542032"/>
            <a:ext cx="4297680" cy="676656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Enhanced customer experience via real-time AI voice interactions</a:t>
            </a:r>
            <a:endParaRPr dirty="0" sz="1150" lang="en-US"/>
          </a:p>
        </p:txBody>
      </p:sp>
      <p:sp>
        <p:nvSpPr>
          <p:cNvPr id="1049006" name="Shape 14"/>
          <p:cNvSpPr/>
          <p:nvPr/>
        </p:nvSpPr>
        <p:spPr>
          <a:xfrm>
            <a:off x="548640" y="3429000"/>
            <a:ext cx="5120640" cy="822960"/>
          </a:xfrm>
          <a:prstGeom prst="roundRect">
            <a:avLst>
              <a:gd name="adj" fmla="val 7778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9007" name="Text 15"/>
          <p:cNvSpPr txBox="1"/>
          <p:nvPr/>
        </p:nvSpPr>
        <p:spPr>
          <a:xfrm>
            <a:off x="658368" y="3520440"/>
            <a:ext cx="50292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200" lang="en-US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dirty="0" sz="2200" lang="en-US"/>
          </a:p>
        </p:txBody>
      </p:sp>
      <p:sp>
        <p:nvSpPr>
          <p:cNvPr id="1049008" name="Text 16"/>
          <p:cNvSpPr txBox="1"/>
          <p:nvPr/>
        </p:nvSpPr>
        <p:spPr>
          <a:xfrm>
            <a:off x="1188720" y="3502152"/>
            <a:ext cx="4297680" cy="676656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Data-driven marketing decisions from automated A/B testing</a:t>
            </a:r>
            <a:endParaRPr dirty="0" sz="1150" lang="en-US"/>
          </a:p>
        </p:txBody>
      </p:sp>
      <p:sp>
        <p:nvSpPr>
          <p:cNvPr id="1049009" name="Shape 17"/>
          <p:cNvSpPr/>
          <p:nvPr/>
        </p:nvSpPr>
        <p:spPr>
          <a:xfrm>
            <a:off x="5852160" y="3429000"/>
            <a:ext cx="5120640" cy="822960"/>
          </a:xfrm>
          <a:prstGeom prst="roundRect">
            <a:avLst>
              <a:gd name="adj" fmla="val 7778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9010" name="Text 18"/>
          <p:cNvSpPr txBox="1"/>
          <p:nvPr/>
        </p:nvSpPr>
        <p:spPr>
          <a:xfrm>
            <a:off x="5961888" y="3520440"/>
            <a:ext cx="50292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2200" lang="en-US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dirty="0" sz="2200" lang="en-US"/>
          </a:p>
        </p:txBody>
      </p:sp>
      <p:sp>
        <p:nvSpPr>
          <p:cNvPr id="1049011" name="Text 19"/>
          <p:cNvSpPr txBox="1"/>
          <p:nvPr/>
        </p:nvSpPr>
        <p:spPr>
          <a:xfrm>
            <a:off x="6492240" y="3502152"/>
            <a:ext cx="4297680" cy="676656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15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Actionable, up-to-date insights for the US financial market</a:t>
            </a:r>
            <a:endParaRPr dirty="0" sz="1150" lang="en-US"/>
          </a:p>
        </p:txBody>
      </p:sp>
      <p:sp>
        <p:nvSpPr>
          <p:cNvPr id="1049012" name="Shape 20"/>
          <p:cNvSpPr/>
          <p:nvPr/>
        </p:nvSpPr>
        <p:spPr>
          <a:xfrm>
            <a:off x="548640" y="5440680"/>
            <a:ext cx="1065276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</p:spPr>
      </p:sp>
      <p:sp>
        <p:nvSpPr>
          <p:cNvPr id="1049013" name="Text 21"/>
          <p:cNvSpPr txBox="1"/>
          <p:nvPr/>
        </p:nvSpPr>
        <p:spPr>
          <a:xfrm>
            <a:off x="822960" y="5559552"/>
            <a:ext cx="4572000" cy="256032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050" kern="0" lang="en-US" spc="10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MATTERS</a:t>
            </a:r>
            <a:endParaRPr dirty="0" sz="1050" lang="en-US"/>
          </a:p>
        </p:txBody>
      </p:sp>
      <p:sp>
        <p:nvSpPr>
          <p:cNvPr id="1049014" name="Text 22"/>
          <p:cNvSpPr txBox="1"/>
          <p:nvPr/>
        </p:nvSpPr>
        <p:spPr>
          <a:xfrm>
            <a:off x="822960" y="5833872"/>
            <a:ext cx="10058400" cy="54864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5000"/>
              </a:lnSpc>
              <a:buNone/>
            </a:pPr>
            <a:r>
              <a:rPr dirty="0" sz="12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Together, these systems demonstrate how modern AI frameworks and workflow automation can be combined into scalable, business-ready intelligent systems.</a:t>
            </a:r>
            <a:endParaRPr dirty="0" sz="1200" lang="en-US"/>
          </a:p>
        </p:txBody>
      </p:sp>
      <p:sp>
        <p:nvSpPr>
          <p:cNvPr id="1049015" name="Text 23"/>
          <p:cNvSpPr/>
          <p:nvPr/>
        </p:nvSpPr>
        <p:spPr>
          <a:xfrm>
            <a:off x="11640312" y="6473952"/>
            <a:ext cx="36576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9AA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dirty="0" sz="1000"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9" name="Text 0"/>
          <p:cNvSpPr txBox="1"/>
          <p:nvPr/>
        </p:nvSpPr>
        <p:spPr>
          <a:xfrm>
            <a:off x="548640" y="320040"/>
            <a:ext cx="73152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07</a:t>
            </a:r>
            <a:endParaRPr dirty="0" sz="1100" lang="en-US"/>
          </a:p>
        </p:txBody>
      </p:sp>
      <p:sp>
        <p:nvSpPr>
          <p:cNvPr id="1049020" name="Text 1"/>
          <p:cNvSpPr txBox="1"/>
          <p:nvPr/>
        </p:nvSpPr>
        <p:spPr>
          <a:xfrm>
            <a:off x="548640" y="594360"/>
            <a:ext cx="105156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000" lang="en-US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Skills &amp; Learning Outcomes</a:t>
            </a:r>
            <a:endParaRPr dirty="0" sz="3000" lang="en-US"/>
          </a:p>
        </p:txBody>
      </p:sp>
      <p:sp>
        <p:nvSpPr>
          <p:cNvPr id="1049021" name="Shape 2"/>
          <p:cNvSpPr/>
          <p:nvPr/>
        </p:nvSpPr>
        <p:spPr>
          <a:xfrm>
            <a:off x="548640" y="160020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9022" name="Shape 3"/>
          <p:cNvSpPr/>
          <p:nvPr/>
        </p:nvSpPr>
        <p:spPr>
          <a:xfrm>
            <a:off x="777240" y="1828800"/>
            <a:ext cx="502920" cy="502920"/>
          </a:xfrm>
          <a:prstGeom prst="ellipse"/>
          <a:solidFill>
            <a:srgbClr val="D4A017"/>
          </a:solidFill>
        </p:spPr>
      </p:sp>
      <p:sp>
        <p:nvSpPr>
          <p:cNvPr id="1049023" name="Text 4"/>
          <p:cNvSpPr txBox="1"/>
          <p:nvPr/>
        </p:nvSpPr>
        <p:spPr>
          <a:xfrm>
            <a:off x="777240" y="1828800"/>
            <a:ext cx="50292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800" lang="en-US">
                <a:solidFill>
                  <a:srgbClr val="141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dirty="0" sz="1800" lang="en-US"/>
          </a:p>
        </p:txBody>
      </p:sp>
      <p:sp>
        <p:nvSpPr>
          <p:cNvPr id="1049024" name="Text 5"/>
          <p:cNvSpPr txBox="1"/>
          <p:nvPr/>
        </p:nvSpPr>
        <p:spPr>
          <a:xfrm>
            <a:off x="1417320" y="1856232"/>
            <a:ext cx="411480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Technical</a:t>
            </a:r>
            <a:endParaRPr dirty="0" sz="1500" lang="en-US"/>
          </a:p>
        </p:txBody>
      </p:sp>
      <p:sp>
        <p:nvSpPr>
          <p:cNvPr id="1049025" name="Text 6"/>
          <p:cNvSpPr txBox="1"/>
          <p:nvPr/>
        </p:nvSpPr>
        <p:spPr>
          <a:xfrm>
            <a:off x="777240" y="2468880"/>
            <a:ext cx="4754880" cy="100584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0000"/>
              </a:lnSpc>
              <a:buNone/>
            </a:pPr>
            <a:r>
              <a:rPr dirty="0" sz="115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LLM/API integration (OpenAI-class models), LangChain, LangGraph, CrewAI, RAG, Vapi AI voice pipelines, Make/n8n</a:t>
            </a:r>
            <a:endParaRPr dirty="0" sz="1150" lang="en-US"/>
          </a:p>
        </p:txBody>
      </p:sp>
      <p:sp>
        <p:nvSpPr>
          <p:cNvPr id="1049026" name="Shape 7"/>
          <p:cNvSpPr/>
          <p:nvPr/>
        </p:nvSpPr>
        <p:spPr>
          <a:xfrm>
            <a:off x="5989320" y="160020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9027" name="Shape 8"/>
          <p:cNvSpPr/>
          <p:nvPr/>
        </p:nvSpPr>
        <p:spPr>
          <a:xfrm>
            <a:off x="6217920" y="1828800"/>
            <a:ext cx="502920" cy="502920"/>
          </a:xfrm>
          <a:prstGeom prst="ellipse"/>
          <a:solidFill>
            <a:srgbClr val="D4A017"/>
          </a:solidFill>
        </p:spPr>
      </p:sp>
      <p:sp>
        <p:nvSpPr>
          <p:cNvPr id="1049028" name="Text 9"/>
          <p:cNvSpPr txBox="1"/>
          <p:nvPr/>
        </p:nvSpPr>
        <p:spPr>
          <a:xfrm>
            <a:off x="6217920" y="1828800"/>
            <a:ext cx="50292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800" lang="en-US">
                <a:solidFill>
                  <a:srgbClr val="141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dirty="0" sz="1800" lang="en-US"/>
          </a:p>
        </p:txBody>
      </p:sp>
      <p:sp>
        <p:nvSpPr>
          <p:cNvPr id="1049029" name="Text 10"/>
          <p:cNvSpPr txBox="1"/>
          <p:nvPr/>
        </p:nvSpPr>
        <p:spPr>
          <a:xfrm>
            <a:off x="6858000" y="1856232"/>
            <a:ext cx="411480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Problem-Solving</a:t>
            </a:r>
            <a:endParaRPr dirty="0" sz="1500" lang="en-US"/>
          </a:p>
        </p:txBody>
      </p:sp>
      <p:sp>
        <p:nvSpPr>
          <p:cNvPr id="1049030" name="Text 11"/>
          <p:cNvSpPr txBox="1"/>
          <p:nvPr/>
        </p:nvSpPr>
        <p:spPr>
          <a:xfrm>
            <a:off x="6217920" y="2468880"/>
            <a:ext cx="4754880" cy="100584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0000"/>
              </a:lnSpc>
              <a:buNone/>
            </a:pPr>
            <a:r>
              <a:rPr dirty="0" sz="115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Debugging automation workflows, validating extracted/scraped data, tuning AI prompts for accuracy</a:t>
            </a:r>
            <a:endParaRPr dirty="0" sz="1150" lang="en-US"/>
          </a:p>
        </p:txBody>
      </p:sp>
      <p:sp>
        <p:nvSpPr>
          <p:cNvPr id="1049031" name="Shape 12"/>
          <p:cNvSpPr/>
          <p:nvPr/>
        </p:nvSpPr>
        <p:spPr>
          <a:xfrm>
            <a:off x="548640" y="379476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9032" name="Shape 13"/>
          <p:cNvSpPr/>
          <p:nvPr/>
        </p:nvSpPr>
        <p:spPr>
          <a:xfrm>
            <a:off x="777240" y="4023360"/>
            <a:ext cx="502920" cy="502920"/>
          </a:xfrm>
          <a:prstGeom prst="ellipse"/>
          <a:solidFill>
            <a:srgbClr val="D4A017"/>
          </a:solidFill>
        </p:spPr>
      </p:sp>
      <p:sp>
        <p:nvSpPr>
          <p:cNvPr id="1049033" name="Text 14"/>
          <p:cNvSpPr txBox="1"/>
          <p:nvPr/>
        </p:nvSpPr>
        <p:spPr>
          <a:xfrm>
            <a:off x="777240" y="4023360"/>
            <a:ext cx="50292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800" lang="en-US">
                <a:solidFill>
                  <a:srgbClr val="141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dirty="0" sz="1800" lang="en-US"/>
          </a:p>
        </p:txBody>
      </p:sp>
      <p:sp>
        <p:nvSpPr>
          <p:cNvPr id="1049034" name="Text 15"/>
          <p:cNvSpPr txBox="1"/>
          <p:nvPr/>
        </p:nvSpPr>
        <p:spPr>
          <a:xfrm>
            <a:off x="1417320" y="4050792"/>
            <a:ext cx="411480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Collaboration</a:t>
            </a:r>
            <a:endParaRPr dirty="0" sz="1500" lang="en-US"/>
          </a:p>
        </p:txBody>
      </p:sp>
      <p:sp>
        <p:nvSpPr>
          <p:cNvPr id="1049035" name="Text 16"/>
          <p:cNvSpPr txBox="1"/>
          <p:nvPr/>
        </p:nvSpPr>
        <p:spPr>
          <a:xfrm>
            <a:off x="777240" y="4663440"/>
            <a:ext cx="4754880" cy="100584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0000"/>
              </a:lnSpc>
              <a:buNone/>
            </a:pPr>
            <a:r>
              <a:rPr dirty="0" sz="115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Working across multiple parallel automation projects in an industry setting</a:t>
            </a:r>
            <a:endParaRPr dirty="0" sz="1150" lang="en-US"/>
          </a:p>
        </p:txBody>
      </p:sp>
      <p:sp>
        <p:nvSpPr>
          <p:cNvPr id="1049036" name="Shape 17"/>
          <p:cNvSpPr/>
          <p:nvPr/>
        </p:nvSpPr>
        <p:spPr>
          <a:xfrm>
            <a:off x="5989320" y="3794760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49037" name="Shape 18"/>
          <p:cNvSpPr/>
          <p:nvPr/>
        </p:nvSpPr>
        <p:spPr>
          <a:xfrm>
            <a:off x="6217920" y="4023360"/>
            <a:ext cx="502920" cy="502920"/>
          </a:xfrm>
          <a:prstGeom prst="ellipse"/>
          <a:solidFill>
            <a:srgbClr val="D4A017"/>
          </a:solidFill>
        </p:spPr>
      </p:sp>
      <p:sp>
        <p:nvSpPr>
          <p:cNvPr id="1049038" name="Text 19"/>
          <p:cNvSpPr txBox="1"/>
          <p:nvPr/>
        </p:nvSpPr>
        <p:spPr>
          <a:xfrm>
            <a:off x="6217920" y="4023360"/>
            <a:ext cx="502920" cy="50292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800" lang="en-US">
                <a:solidFill>
                  <a:srgbClr val="141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dirty="0" sz="1800" lang="en-US"/>
          </a:p>
        </p:txBody>
      </p:sp>
      <p:sp>
        <p:nvSpPr>
          <p:cNvPr id="1049039" name="Text 20"/>
          <p:cNvSpPr txBox="1"/>
          <p:nvPr/>
        </p:nvSpPr>
        <p:spPr>
          <a:xfrm>
            <a:off x="6858000" y="4050792"/>
            <a:ext cx="4114800" cy="4572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500" lang="en-US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Engineering Practice</a:t>
            </a:r>
            <a:endParaRPr dirty="0" sz="1500" lang="en-US"/>
          </a:p>
        </p:txBody>
      </p:sp>
      <p:sp>
        <p:nvSpPr>
          <p:cNvPr id="1049040" name="Text 21"/>
          <p:cNvSpPr txBox="1"/>
          <p:nvPr/>
        </p:nvSpPr>
        <p:spPr>
          <a:xfrm>
            <a:off x="6217920" y="4663440"/>
            <a:ext cx="4754880" cy="100584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0000"/>
              </a:lnSpc>
              <a:buNone/>
            </a:pPr>
            <a:r>
              <a:rPr dirty="0" sz="115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pipeline design: triggers, AI processing, validation, storage, and monitoring (LangSmith)</a:t>
            </a:r>
            <a:endParaRPr dirty="0" sz="1150" lang="en-US"/>
          </a:p>
        </p:txBody>
      </p:sp>
      <p:sp>
        <p:nvSpPr>
          <p:cNvPr id="1049041" name="Text 22"/>
          <p:cNvSpPr/>
          <p:nvPr/>
        </p:nvSpPr>
        <p:spPr>
          <a:xfrm>
            <a:off x="11640312" y="6473952"/>
            <a:ext cx="36576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9AA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dirty="0" sz="1000"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A45"/>
        </a:solidFill>
        <a:effectLst/>
      </p:bgPr>
    </p:bg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5" name="Text 0"/>
          <p:cNvSpPr txBox="1"/>
          <p:nvPr/>
        </p:nvSpPr>
        <p:spPr>
          <a:xfrm>
            <a:off x="731520" y="640080"/>
            <a:ext cx="7315200" cy="32004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300" kern="0" lang="en-US" spc="20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08</a:t>
            </a:r>
            <a:endParaRPr dirty="0" sz="1300" lang="en-US"/>
          </a:p>
        </p:txBody>
      </p:sp>
      <p:sp>
        <p:nvSpPr>
          <p:cNvPr id="1049046" name="Text 1"/>
          <p:cNvSpPr txBox="1"/>
          <p:nvPr/>
        </p:nvSpPr>
        <p:spPr>
          <a:xfrm>
            <a:off x="731520" y="1005840"/>
            <a:ext cx="9144000" cy="68580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400" lang="en-US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</a:t>
            </a:r>
            <a:endParaRPr dirty="0" sz="3400" lang="en-US"/>
          </a:p>
        </p:txBody>
      </p:sp>
      <p:sp>
        <p:nvSpPr>
          <p:cNvPr id="1049047" name="Text 2"/>
          <p:cNvSpPr txBox="1"/>
          <p:nvPr/>
        </p:nvSpPr>
        <p:spPr>
          <a:xfrm>
            <a:off x="731520" y="1828800"/>
            <a:ext cx="10058400" cy="82296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25000"/>
              </a:lnSpc>
              <a:buNone/>
            </a:pPr>
            <a:r>
              <a:rPr dirty="0" sz="1400" lang="en-US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internship at KUAVA Digital provided hands-on experience building nine AI-powered automation and intelligent agent systems — from email extraction and lead generation to voice AI and financial analysis.</a:t>
            </a:r>
            <a:endParaRPr dirty="0" sz="1400" lang="en-US"/>
          </a:p>
        </p:txBody>
      </p:sp>
      <p:sp>
        <p:nvSpPr>
          <p:cNvPr id="1049048" name="Shape 3"/>
          <p:cNvSpPr/>
          <p:nvPr/>
        </p:nvSpPr>
        <p:spPr>
          <a:xfrm>
            <a:off x="731520" y="2880360"/>
            <a:ext cx="365760" cy="365760"/>
          </a:xfrm>
          <a:prstGeom prst="ellipse"/>
          <a:solidFill>
            <a:srgbClr val="D4A017"/>
          </a:solidFill>
        </p:spPr>
      </p:sp>
      <p:sp>
        <p:nvSpPr>
          <p:cNvPr id="1049049" name="Text 4"/>
          <p:cNvSpPr txBox="1"/>
          <p:nvPr/>
        </p:nvSpPr>
        <p:spPr>
          <a:xfrm>
            <a:off x="731520" y="2880360"/>
            <a:ext cx="36576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500" lang="en-US">
                <a:solidFill>
                  <a:srgbClr val="14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dirty="0" sz="1500" lang="en-US"/>
          </a:p>
        </p:txBody>
      </p:sp>
      <p:sp>
        <p:nvSpPr>
          <p:cNvPr id="1049050" name="Text 5"/>
          <p:cNvSpPr txBox="1"/>
          <p:nvPr/>
        </p:nvSpPr>
        <p:spPr>
          <a:xfrm>
            <a:off x="1280160" y="2834640"/>
            <a:ext cx="969264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and implemented 9 distinct AI-driven automation projects end to end</a:t>
            </a:r>
            <a:endParaRPr dirty="0" sz="1300" lang="en-US"/>
          </a:p>
        </p:txBody>
      </p:sp>
      <p:sp>
        <p:nvSpPr>
          <p:cNvPr id="1049051" name="Shape 6"/>
          <p:cNvSpPr/>
          <p:nvPr/>
        </p:nvSpPr>
        <p:spPr>
          <a:xfrm>
            <a:off x="731520" y="3538728"/>
            <a:ext cx="365760" cy="365760"/>
          </a:xfrm>
          <a:prstGeom prst="ellipse"/>
          <a:solidFill>
            <a:srgbClr val="D4A017"/>
          </a:solidFill>
        </p:spPr>
      </p:sp>
      <p:sp>
        <p:nvSpPr>
          <p:cNvPr id="1049052" name="Text 7"/>
          <p:cNvSpPr txBox="1"/>
          <p:nvPr/>
        </p:nvSpPr>
        <p:spPr>
          <a:xfrm>
            <a:off x="731520" y="3538728"/>
            <a:ext cx="36576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500" lang="en-US">
                <a:solidFill>
                  <a:srgbClr val="14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dirty="0" sz="1500" lang="en-US"/>
          </a:p>
        </p:txBody>
      </p:sp>
      <p:sp>
        <p:nvSpPr>
          <p:cNvPr id="1049053" name="Text 8"/>
          <p:cNvSpPr txBox="1"/>
          <p:nvPr/>
        </p:nvSpPr>
        <p:spPr>
          <a:xfrm>
            <a:off x="1280160" y="3493008"/>
            <a:ext cx="969264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Gained direct experience with LangChain, CrewAI, LangGraph, RAG, LangSmith, and Vapi AI</a:t>
            </a:r>
            <a:endParaRPr dirty="0" sz="1300" lang="en-US"/>
          </a:p>
        </p:txBody>
      </p:sp>
      <p:sp>
        <p:nvSpPr>
          <p:cNvPr id="1049054" name="Shape 9"/>
          <p:cNvSpPr/>
          <p:nvPr/>
        </p:nvSpPr>
        <p:spPr>
          <a:xfrm>
            <a:off x="731520" y="4197096"/>
            <a:ext cx="365760" cy="365760"/>
          </a:xfrm>
          <a:prstGeom prst="ellipse"/>
          <a:solidFill>
            <a:srgbClr val="D4A017"/>
          </a:solidFill>
        </p:spPr>
      </p:sp>
      <p:sp>
        <p:nvSpPr>
          <p:cNvPr id="1049055" name="Text 10"/>
          <p:cNvSpPr txBox="1"/>
          <p:nvPr/>
        </p:nvSpPr>
        <p:spPr>
          <a:xfrm>
            <a:off x="731520" y="4197096"/>
            <a:ext cx="365760" cy="365760"/>
          </a:xfrm>
          <a:prstGeom prst="rect"/>
          <a:noFill/>
        </p:spPr>
        <p:txBody>
          <a:bodyPr anchor="ctr" rtlCol="0" wrap="square"/>
          <a:p>
            <a:pPr algn="ctr" indent="0" marL="0">
              <a:buNone/>
            </a:pPr>
            <a:r>
              <a:rPr b="1" dirty="0" sz="1500" lang="en-US">
                <a:solidFill>
                  <a:srgbClr val="14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dirty="0" sz="1500" lang="en-US"/>
          </a:p>
        </p:txBody>
      </p:sp>
      <p:sp>
        <p:nvSpPr>
          <p:cNvPr id="1049056" name="Text 11"/>
          <p:cNvSpPr txBox="1"/>
          <p:nvPr/>
        </p:nvSpPr>
        <p:spPr>
          <a:xfrm>
            <a:off x="1280160" y="4151376"/>
            <a:ext cx="969264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1300" lang="en-US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Strengthened workflow-automation, API integration, and voice-AI skills relevant to real business engineering roles</a:t>
            </a:r>
            <a:endParaRPr dirty="0" sz="1300" lang="en-US"/>
          </a:p>
        </p:txBody>
      </p:sp>
      <p:sp>
        <p:nvSpPr>
          <p:cNvPr id="1049057" name="Text 12"/>
          <p:cNvSpPr txBox="1"/>
          <p:nvPr/>
        </p:nvSpPr>
        <p:spPr>
          <a:xfrm>
            <a:off x="731520" y="5394960"/>
            <a:ext cx="73152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dirty="0" sz="2600" i="1" lang="en-US">
                <a:solidFill>
                  <a:srgbClr val="D4A01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dirty="0" sz="2600" lang="en-US"/>
          </a:p>
        </p:txBody>
      </p:sp>
      <p:sp>
        <p:nvSpPr>
          <p:cNvPr id="1049058" name="Text 13"/>
          <p:cNvSpPr/>
          <p:nvPr/>
        </p:nvSpPr>
        <p:spPr>
          <a:xfrm>
            <a:off x="11640312" y="6473952"/>
            <a:ext cx="36576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9AA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dirty="0" sz="1000"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62" name="Text 0"/>
          <p:cNvSpPr txBox="1"/>
          <p:nvPr/>
        </p:nvSpPr>
        <p:spPr>
          <a:xfrm>
            <a:off x="548640" y="320040"/>
            <a:ext cx="7315200" cy="2743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00" kern="0" lang="en-US" spc="20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</a:t>
            </a:r>
            <a:endParaRPr dirty="0" sz="1100" lang="en-US"/>
          </a:p>
        </p:txBody>
      </p:sp>
      <p:sp>
        <p:nvSpPr>
          <p:cNvPr id="1049063" name="Text 1"/>
          <p:cNvSpPr txBox="1"/>
          <p:nvPr/>
        </p:nvSpPr>
        <p:spPr>
          <a:xfrm>
            <a:off x="548640" y="594360"/>
            <a:ext cx="10515600" cy="64008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3000" lang="en-US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References</a:t>
            </a:r>
            <a:endParaRPr dirty="0" sz="3000" lang="en-US"/>
          </a:p>
        </p:txBody>
      </p:sp>
      <p:sp>
        <p:nvSpPr>
          <p:cNvPr id="1049064" name="Text 2"/>
          <p:cNvSpPr txBox="1"/>
          <p:nvPr/>
        </p:nvSpPr>
        <p:spPr>
          <a:xfrm>
            <a:off x="548640" y="1554480"/>
            <a:ext cx="36576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00" lang="en-US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</a:t>
            </a:r>
            <a:endParaRPr dirty="0" sz="1100" lang="en-US"/>
          </a:p>
        </p:txBody>
      </p:sp>
      <p:sp>
        <p:nvSpPr>
          <p:cNvPr id="1049065" name="Text 3"/>
          <p:cNvSpPr txBox="1"/>
          <p:nvPr/>
        </p:nvSpPr>
        <p:spPr>
          <a:xfrm>
            <a:off x="914400" y="1554480"/>
            <a:ext cx="4846320" cy="50292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0000"/>
              </a:lnSpc>
              <a:buNone/>
            </a:pPr>
            <a:r>
              <a:rPr dirty="0" sz="105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KUAVA Digital. Official Website. kuavadigital.com</a:t>
            </a:r>
            <a:endParaRPr dirty="0" sz="1050" lang="en-US"/>
          </a:p>
        </p:txBody>
      </p:sp>
      <p:sp>
        <p:nvSpPr>
          <p:cNvPr id="1049066" name="Text 4"/>
          <p:cNvSpPr txBox="1"/>
          <p:nvPr/>
        </p:nvSpPr>
        <p:spPr>
          <a:xfrm>
            <a:off x="548640" y="2121408"/>
            <a:ext cx="36576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00" lang="en-US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</a:t>
            </a:r>
            <a:endParaRPr dirty="0" sz="1100" lang="en-US"/>
          </a:p>
        </p:txBody>
      </p:sp>
      <p:sp>
        <p:nvSpPr>
          <p:cNvPr id="1049067" name="Text 5"/>
          <p:cNvSpPr txBox="1"/>
          <p:nvPr/>
        </p:nvSpPr>
        <p:spPr>
          <a:xfrm>
            <a:off x="914400" y="2121408"/>
            <a:ext cx="4846320" cy="50292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0000"/>
              </a:lnSpc>
              <a:buNone/>
            </a:pPr>
            <a:r>
              <a:rPr dirty="0" sz="105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Software Foundation. Python Documentation. docs.python.org/3</a:t>
            </a:r>
            <a:endParaRPr dirty="0" sz="1050" lang="en-US"/>
          </a:p>
        </p:txBody>
      </p:sp>
      <p:sp>
        <p:nvSpPr>
          <p:cNvPr id="1049068" name="Text 6"/>
          <p:cNvSpPr txBox="1"/>
          <p:nvPr/>
        </p:nvSpPr>
        <p:spPr>
          <a:xfrm>
            <a:off x="548640" y="2688336"/>
            <a:ext cx="36576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00" lang="en-US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</a:t>
            </a:r>
            <a:endParaRPr dirty="0" sz="1100" lang="en-US"/>
          </a:p>
        </p:txBody>
      </p:sp>
      <p:sp>
        <p:nvSpPr>
          <p:cNvPr id="1049069" name="Text 7"/>
          <p:cNvSpPr txBox="1"/>
          <p:nvPr/>
        </p:nvSpPr>
        <p:spPr>
          <a:xfrm>
            <a:off x="914400" y="2688336"/>
            <a:ext cx="4846320" cy="50292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0000"/>
              </a:lnSpc>
              <a:buNone/>
            </a:pPr>
            <a:r>
              <a:rPr dirty="0" sz="105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LangChain Documentation. python.langchain.com/docs</a:t>
            </a:r>
            <a:endParaRPr dirty="0" sz="1050" lang="en-US"/>
          </a:p>
        </p:txBody>
      </p:sp>
      <p:sp>
        <p:nvSpPr>
          <p:cNvPr id="1049070" name="Text 8"/>
          <p:cNvSpPr txBox="1"/>
          <p:nvPr/>
        </p:nvSpPr>
        <p:spPr>
          <a:xfrm>
            <a:off x="548640" y="3255264"/>
            <a:ext cx="36576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00" lang="en-US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</a:t>
            </a:r>
            <a:endParaRPr dirty="0" sz="1100" lang="en-US"/>
          </a:p>
        </p:txBody>
      </p:sp>
      <p:sp>
        <p:nvSpPr>
          <p:cNvPr id="1049071" name="Text 9"/>
          <p:cNvSpPr txBox="1"/>
          <p:nvPr/>
        </p:nvSpPr>
        <p:spPr>
          <a:xfrm>
            <a:off x="914400" y="3255264"/>
            <a:ext cx="4846320" cy="50292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0000"/>
              </a:lnSpc>
              <a:buNone/>
            </a:pPr>
            <a:r>
              <a:rPr dirty="0" sz="105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LangGraph Documentation. langchain-ai.github.io/langgraph</a:t>
            </a:r>
            <a:endParaRPr dirty="0" sz="1050" lang="en-US"/>
          </a:p>
        </p:txBody>
      </p:sp>
      <p:sp>
        <p:nvSpPr>
          <p:cNvPr id="1049072" name="Text 10"/>
          <p:cNvSpPr txBox="1"/>
          <p:nvPr/>
        </p:nvSpPr>
        <p:spPr>
          <a:xfrm>
            <a:off x="548640" y="3822192"/>
            <a:ext cx="36576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00" lang="en-US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</a:t>
            </a:r>
            <a:endParaRPr dirty="0" sz="1100" lang="en-US"/>
          </a:p>
        </p:txBody>
      </p:sp>
      <p:sp>
        <p:nvSpPr>
          <p:cNvPr id="1049073" name="Text 11"/>
          <p:cNvSpPr txBox="1"/>
          <p:nvPr/>
        </p:nvSpPr>
        <p:spPr>
          <a:xfrm>
            <a:off x="914400" y="3822192"/>
            <a:ext cx="4846320" cy="50292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0000"/>
              </a:lnSpc>
              <a:buNone/>
            </a:pPr>
            <a:r>
              <a:rPr dirty="0" sz="105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CrewAI Documentation. docs.crewai.com</a:t>
            </a:r>
            <a:endParaRPr dirty="0" sz="1050" lang="en-US"/>
          </a:p>
        </p:txBody>
      </p:sp>
      <p:sp>
        <p:nvSpPr>
          <p:cNvPr id="1049074" name="Text 12"/>
          <p:cNvSpPr txBox="1"/>
          <p:nvPr/>
        </p:nvSpPr>
        <p:spPr>
          <a:xfrm>
            <a:off x="548640" y="4389120"/>
            <a:ext cx="36576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00" lang="en-US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</a:t>
            </a:r>
            <a:endParaRPr dirty="0" sz="1100" lang="en-US"/>
          </a:p>
        </p:txBody>
      </p:sp>
      <p:sp>
        <p:nvSpPr>
          <p:cNvPr id="1049075" name="Text 13"/>
          <p:cNvSpPr txBox="1"/>
          <p:nvPr/>
        </p:nvSpPr>
        <p:spPr>
          <a:xfrm>
            <a:off x="914400" y="4389120"/>
            <a:ext cx="4846320" cy="50292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0000"/>
              </a:lnSpc>
              <a:buNone/>
            </a:pPr>
            <a:r>
              <a:rPr dirty="0" sz="105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LangSmith Documentation. docs.smith.langchain.com</a:t>
            </a:r>
            <a:endParaRPr dirty="0" sz="1050" lang="en-US"/>
          </a:p>
        </p:txBody>
      </p:sp>
      <p:sp>
        <p:nvSpPr>
          <p:cNvPr id="1049076" name="Text 14"/>
          <p:cNvSpPr txBox="1"/>
          <p:nvPr/>
        </p:nvSpPr>
        <p:spPr>
          <a:xfrm>
            <a:off x="548640" y="4956048"/>
            <a:ext cx="36576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00" lang="en-US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7.</a:t>
            </a:r>
            <a:endParaRPr dirty="0" sz="1100" lang="en-US"/>
          </a:p>
        </p:txBody>
      </p:sp>
      <p:sp>
        <p:nvSpPr>
          <p:cNvPr id="1049077" name="Text 15"/>
          <p:cNvSpPr txBox="1"/>
          <p:nvPr/>
        </p:nvSpPr>
        <p:spPr>
          <a:xfrm>
            <a:off x="914400" y="4956048"/>
            <a:ext cx="4846320" cy="50292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0000"/>
              </a:lnSpc>
              <a:buNone/>
            </a:pPr>
            <a:r>
              <a:rPr dirty="0" sz="105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Vapi AI Documentation. docs.vapi.ai</a:t>
            </a:r>
            <a:endParaRPr dirty="0" sz="1050" lang="en-US"/>
          </a:p>
        </p:txBody>
      </p:sp>
      <p:sp>
        <p:nvSpPr>
          <p:cNvPr id="1049078" name="Text 16"/>
          <p:cNvSpPr txBox="1"/>
          <p:nvPr/>
        </p:nvSpPr>
        <p:spPr>
          <a:xfrm>
            <a:off x="5989320" y="1554480"/>
            <a:ext cx="36576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00" lang="en-US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8.</a:t>
            </a:r>
            <a:endParaRPr dirty="0" sz="1100" lang="en-US"/>
          </a:p>
        </p:txBody>
      </p:sp>
      <p:sp>
        <p:nvSpPr>
          <p:cNvPr id="1049079" name="Text 17"/>
          <p:cNvSpPr txBox="1"/>
          <p:nvPr/>
        </p:nvSpPr>
        <p:spPr>
          <a:xfrm>
            <a:off x="6355080" y="1554480"/>
            <a:ext cx="4846320" cy="50292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0000"/>
              </a:lnSpc>
              <a:buNone/>
            </a:pPr>
            <a:r>
              <a:rPr dirty="0" sz="105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Sheets API Documentation. developers.google.com/sheets/api</a:t>
            </a:r>
            <a:endParaRPr dirty="0" sz="1050" lang="en-US"/>
          </a:p>
        </p:txBody>
      </p:sp>
      <p:sp>
        <p:nvSpPr>
          <p:cNvPr id="1049080" name="Text 18"/>
          <p:cNvSpPr txBox="1"/>
          <p:nvPr/>
        </p:nvSpPr>
        <p:spPr>
          <a:xfrm>
            <a:off x="5989320" y="2121408"/>
            <a:ext cx="36576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00" lang="en-US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9.</a:t>
            </a:r>
            <a:endParaRPr dirty="0" sz="1100" lang="en-US"/>
          </a:p>
        </p:txBody>
      </p:sp>
      <p:sp>
        <p:nvSpPr>
          <p:cNvPr id="1049081" name="Text 19"/>
          <p:cNvSpPr txBox="1"/>
          <p:nvPr/>
        </p:nvSpPr>
        <p:spPr>
          <a:xfrm>
            <a:off x="6355080" y="2121408"/>
            <a:ext cx="4846320" cy="50292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0000"/>
              </a:lnSpc>
              <a:buNone/>
            </a:pPr>
            <a:r>
              <a:rPr dirty="0" sz="105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Calendar API Documentation. developers.google.com/calendar/api</a:t>
            </a:r>
            <a:endParaRPr dirty="0" sz="1050" lang="en-US"/>
          </a:p>
        </p:txBody>
      </p:sp>
      <p:sp>
        <p:nvSpPr>
          <p:cNvPr id="1049082" name="Text 20"/>
          <p:cNvSpPr txBox="1"/>
          <p:nvPr/>
        </p:nvSpPr>
        <p:spPr>
          <a:xfrm>
            <a:off x="5989320" y="2688336"/>
            <a:ext cx="36576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00" lang="en-US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</a:t>
            </a:r>
            <a:endParaRPr dirty="0" sz="1100" lang="en-US"/>
          </a:p>
        </p:txBody>
      </p:sp>
      <p:sp>
        <p:nvSpPr>
          <p:cNvPr id="1049083" name="Text 21"/>
          <p:cNvSpPr txBox="1"/>
          <p:nvPr/>
        </p:nvSpPr>
        <p:spPr>
          <a:xfrm>
            <a:off x="6355080" y="2688336"/>
            <a:ext cx="4846320" cy="50292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0000"/>
              </a:lnSpc>
              <a:buNone/>
            </a:pPr>
            <a:r>
              <a:rPr dirty="0" sz="105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Gmail API Documentation. developers.google.com/gmail/api</a:t>
            </a:r>
            <a:endParaRPr dirty="0" sz="1050" lang="en-US"/>
          </a:p>
        </p:txBody>
      </p:sp>
      <p:sp>
        <p:nvSpPr>
          <p:cNvPr id="1049084" name="Text 22"/>
          <p:cNvSpPr txBox="1"/>
          <p:nvPr/>
        </p:nvSpPr>
        <p:spPr>
          <a:xfrm>
            <a:off x="5989320" y="3255264"/>
            <a:ext cx="36576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00" lang="en-US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11.</a:t>
            </a:r>
            <a:endParaRPr dirty="0" sz="1100" lang="en-US"/>
          </a:p>
        </p:txBody>
      </p:sp>
      <p:sp>
        <p:nvSpPr>
          <p:cNvPr id="1049085" name="Text 23"/>
          <p:cNvSpPr txBox="1"/>
          <p:nvPr/>
        </p:nvSpPr>
        <p:spPr>
          <a:xfrm>
            <a:off x="6355080" y="3255264"/>
            <a:ext cx="4846320" cy="50292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0000"/>
              </a:lnSpc>
              <a:buNone/>
            </a:pPr>
            <a:r>
              <a:rPr dirty="0" sz="105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Make Automation Platform. make.com</a:t>
            </a:r>
            <a:endParaRPr dirty="0" sz="1050" lang="en-US"/>
          </a:p>
        </p:txBody>
      </p:sp>
      <p:sp>
        <p:nvSpPr>
          <p:cNvPr id="1049086" name="Text 24"/>
          <p:cNvSpPr txBox="1"/>
          <p:nvPr/>
        </p:nvSpPr>
        <p:spPr>
          <a:xfrm>
            <a:off x="5989320" y="3822192"/>
            <a:ext cx="36576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00" lang="en-US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</a:t>
            </a:r>
            <a:endParaRPr dirty="0" sz="1100" lang="en-US"/>
          </a:p>
        </p:txBody>
      </p:sp>
      <p:sp>
        <p:nvSpPr>
          <p:cNvPr id="1049087" name="Text 25"/>
          <p:cNvSpPr txBox="1"/>
          <p:nvPr/>
        </p:nvSpPr>
        <p:spPr>
          <a:xfrm>
            <a:off x="6355080" y="3822192"/>
            <a:ext cx="4846320" cy="50292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0000"/>
              </a:lnSpc>
              <a:buNone/>
            </a:pPr>
            <a:r>
              <a:rPr dirty="0" sz="105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n8n Workflow Automation Documentation. docs.n8n.io</a:t>
            </a:r>
            <a:endParaRPr dirty="0" sz="1050" lang="en-US"/>
          </a:p>
        </p:txBody>
      </p:sp>
      <p:sp>
        <p:nvSpPr>
          <p:cNvPr id="1049088" name="Text 26"/>
          <p:cNvSpPr txBox="1"/>
          <p:nvPr/>
        </p:nvSpPr>
        <p:spPr>
          <a:xfrm>
            <a:off x="5989320" y="4389120"/>
            <a:ext cx="365760" cy="502920"/>
          </a:xfrm>
          <a:prstGeom prst="rect"/>
          <a:noFill/>
        </p:spPr>
        <p:txBody>
          <a:bodyPr anchor="ctr" rtlCol="0" wrap="square"/>
          <a:p>
            <a:pPr indent="0" marL="0">
              <a:buNone/>
            </a:pPr>
            <a:r>
              <a:rPr b="1" dirty="0" sz="1100" lang="en-US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13.</a:t>
            </a:r>
            <a:endParaRPr dirty="0" sz="1100" lang="en-US"/>
          </a:p>
        </p:txBody>
      </p:sp>
      <p:sp>
        <p:nvSpPr>
          <p:cNvPr id="1049089" name="Text 27"/>
          <p:cNvSpPr txBox="1"/>
          <p:nvPr/>
        </p:nvSpPr>
        <p:spPr>
          <a:xfrm>
            <a:off x="6355080" y="4389120"/>
            <a:ext cx="4846320" cy="502920"/>
          </a:xfrm>
          <a:prstGeom prst="rect"/>
          <a:noFill/>
        </p:spPr>
        <p:txBody>
          <a:bodyPr anchor="ctr" rtlCol="0" wrap="square"/>
          <a:p>
            <a:pPr indent="0" marL="0">
              <a:lnSpc>
                <a:spcPct val="110000"/>
              </a:lnSpc>
              <a:buNone/>
            </a:pPr>
            <a:r>
              <a:rPr dirty="0" sz="1050" lang="en-US">
                <a:solidFill>
                  <a:srgbClr val="3A3A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OpenAI API Documentation. platform.openai.com/docs</a:t>
            </a:r>
            <a:endParaRPr dirty="0" sz="1050" lang="en-US"/>
          </a:p>
        </p:txBody>
      </p:sp>
      <p:sp>
        <p:nvSpPr>
          <p:cNvPr id="1049090" name="Text 28"/>
          <p:cNvSpPr/>
          <p:nvPr/>
        </p:nvSpPr>
        <p:spPr>
          <a:xfrm>
            <a:off x="11640312" y="6473952"/>
            <a:ext cx="365760" cy="274320"/>
          </a:xfrm>
          <a:prstGeom prst="rect"/>
          <a:noFill/>
        </p:spPr>
        <p:txBody>
          <a:bodyPr anchor="ctr" rtlCol="0" wrap="square"/>
          <a:p>
            <a:pPr algn="r" indent="0" marL="0">
              <a:buNone/>
            </a:pPr>
            <a:r>
              <a:rPr dirty="0" sz="1000" lang="en-US">
                <a:solidFill>
                  <a:srgbClr val="9AA0B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dirty="0" sz="100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WPS Presentation</Application>
  <ScaleCrop>0</ScaleCrop>
  <Company>PptxGenJS</Company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PptxGenJS Presentation</dc:title>
  <dc:creator>PptxGenJS</dc:creator>
  <cp:lastModifiedBy>WPS_1757739743</cp:lastModifiedBy>
  <dcterms:created xsi:type="dcterms:W3CDTF">2026-08-29T23:02:00Z</dcterms:created>
  <dcterms:modified xsi:type="dcterms:W3CDTF">2026-08-30T11:36:08Z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e351863ebb064960bc4abba93850cbe2_23</vt:lpwstr>
  </property>
  <property fmtid="{D5CDD505-2E9C-101B-9397-08002B2CF9AE}" pid="3" name="KSOProductBuildVer">
    <vt:lpwstr>2057-12.2.0.23206</vt:lpwstr>
  </property>
</Properties>
</file>